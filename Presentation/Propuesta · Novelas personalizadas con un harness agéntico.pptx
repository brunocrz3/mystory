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y agradecimiento. En una frase: vamos a proponer un sistema agéntico que escribe novelas personalizadas con una calidad narrativa controlada y medible.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minuto. Quién compra y para qué. Las tres alternativas y por qué fallan. Cerrar con el objetivo doble: no basta con personalizar, la novela tiene que estar bien escrita.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minuto. Izquierda: cómo se configura (entrevista, faltantes, contradicciones). Derecha: cómo se lee y se corrige. Si hay tercera captura (ficha de personajes o PDF), puede sustituir a una de las 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minutos entre esta y la siguiente. Recorrer el bucle de izquierda a derecha: el Interviewer recoge los datos del cliente y entrega el brief de la novela al Planner. Planner, Writer y Editor usan Opus; Interviewer, Judge y Extractor, Sonnet. El Judge en un modelo distinto al Writer evita el sesgo de autopreferencia (anexo G). Cerrar con la justificación de la máquina de estados propia.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decisión de diseño: un workflow explícito y no un agente autónomo, porque el proceso de escribir una novela es conocido. Cinco razones y el coste que asumimos.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piezas. Context management con límite de 100.000 tokens concurrentes; story bible versionada con vigencia de hechos; tools con schema; los dos hooks y el policy engine; y la skill personalizacion-natural, reutilizable en otros productos.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minuto. Revisar y ajustar la columna "Dónde actúa" si el reparto real difiere. Mensaje: cada validador se usa donde es más barato y más 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 entre esta y la siguiente. Cinco ejecuciones representativas de las 15 reales, todas con el modelo de verdad (costes nominales). La adversarial contiene la inyección; la primera novela de la demo la rechaza cierre_arco; Soltar amarras v1 se publica; la regeneración v2 se detiene y la v3 se publica sobre la v1; B2 solo la rechaza Lean. Lean solo corre en la última fila: antes, el gate de Lean estaba apagado. Limitaciones: diez de las quince filas usan el mismo brief de ejemplo, cada fila corre sobre el commit de su momento y B3–B5 están sin ejecutar.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real del brief B2: la destinataria nace en 1990 y la novela cuenta que conoció a su amiga en la feria de 1986; el extractor registró ese recuerdo como evento de 1986 con ella presente. lean_nacimiento no se demuestra en tres eventos (e12, capítulo 3; e18, capítulo 4; e58, capítulo 10). Ningún otro validador lo vio porque todos comparan con el brief, y el brief dice que se conocieron en 1986; nadie resta años. El chequeo incremental avisó tras el capítulo 3; la versión 1 quedó rechazada por el gate (único veredicto fallido) y el fallo volvió al editor con invariante, capítulo, año y personajes. Nadie inyectó la incoherencia a mano. Lo que no demuestra: con qué frecuencia pasa sin un brief que lo busque.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Trazas reales en Langfuse. A la izquierda, el árbol de spans de una generación: por cada capítulo, el writer, los dos hooks, el judge, el editor y las consultas a la story bible, cada uno con su latencia y su coste; a la derecha se ve el prompt de sistema del writer con el que se ejecutó la llamada. Arriba a la derecha, la lista de trazas del proyecto (una generación y una comprobación de Lean). Abajo, los scores por validador y capítulo: los semánticos cerca de 1,00, invencion_destinatario en 0,00 (0 = bien) y las invariantes de Lean en 1,00. Costes nominales con el proveedor claude_code.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segundos. El guardrail normaliza los dos lados y compara raíces. Caso real en la novela B2, capítulo 6: el brief vetaba el nombre «Remedios» y el borrador decía «remedio», el sustantivo común; ambos quedan en la raíz remedi, así que se devolvió al redactor y el capítulo se aceptó en el intento 2 sin ninguna forma de «remedio». El veto funcionó, pero es un falso positivo por raíz compartida, anotado para la calibración. Segunda pasada seguida con palabra vetada: la generación se detiene. Prompt injection: ninguna de las 40 peticiones de la ejecución adversarial llevó la instrucción inyectada. Cada decisión queda en el audit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 entre las tres diapositivas económicas. Con 500 novelas al mes: tokens 10,80 USD (medidos en Langfuse, con revisiones y fallos), infraestructura 0,20 y operación 7,63 (calidad por muestreo 2,50, soporte 3,33, pasarela 1,80). Coste unitario 18,63 USD (27 %), margen bruto 50,37 USD (73 %) sobre un precio de 69 USD. El precio queda entre las plantillas (28–50 USD) y el escritor a medida (295–450 USD).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fases y 500 horas: perfiles senior (117 USD/h, 100 €) en diseño y validación, y mid (82 USD/h, 70 €) en desarrollo y despliegue. Total: 48.000 USD. Con 500 novelas al mes (25.187 USD de margen mensual), el proyecto se recupera en menos de dos meses (1,9). Mantenimiento anual estimado: 4.800–12.000 USD.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Margen mensual para 100, 500 y 2.000 novelas al mes (barras a escala lineal): 4.971, 25.187 y 100.930 USD. El margen por novela se mantiene entre el 72 % y el 73 %. Sensibilidad: con tokens +50 % baja a 44,95 USD (65 %); con 4 o 6 revisiones, a 38,63 USD (56 %) y 30,81 USD (45 %). Peor caso combinado: 27,36 USD (40 %); el margen solo llegaría a cero con tokens 5,7 veces más caros. Propuesta: cobrar las revisiones a partir de la 4.ª a 9 USD. El análisis extendido está en el anexo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segundos. El usuario pide un cambio desde la página; la story bible versiona el hecho y solo se reescribe el capítulo afectado. En el índice de la versión nueva, el capítulo VII cambia de «Lo que Tomás nunca hizo» a «Lo que Tomás dejó en tierra» y aparece marcado como modificado; los otros nueve no se tocan y la versión anterior sigue consultable. En el ensayo, un cambio que afectaba solo al capítulo 7 se regeneró en 250 segundos por 0,53 USD nominales.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segundos. Tres riesgos con su mitigación: dependencia del proveedor (interfaz con dos implementaciones y tope de coste por novela), políticas de privacidad (validadores nombres_exactos e invencion_destinatario) y calidad percibida (umbrales recalibrados y control humano en una de cada cuatro novelas). Siguientes pasos: puesta en producción (semanas 1–2), piloto con 50 novelas reales (semanas 3–6) y lanzamiento comercial (mes 3). Terminar con la petición concreta: arrancar el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Gracias. Abrir turno de preguntas. Los anexos siguen a esta diapositiva por si surgen preguntas técnicas.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Portadilla de anexos. Solo se muestran si hay preguntas. Los títulos de A, E y H abren su documento en la página de anexos.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claude.ai/artifact/FEn94eSDXyRbY4DbXaKzQF#anexo-a" TargetMode="External"/><Relationship Id="rId3" Type="http://schemas.openxmlformats.org/officeDocument/2006/relationships/hyperlink" Target="https://claude.ai/artifact/FEn94eSDXyRbY4DbXaKzQF#anexo-e" TargetMode="External"/><Relationship Id="rId4" Type="http://schemas.openxmlformats.org/officeDocument/2006/relationships/hyperlink" Target="https://claude.ai/artifact/FEn94eSDXyRbY4DbXaKzQF#anexo-h" TargetMode="External"/><Relationship Id="rId1" Type="http://schemas.openxmlformats.org/officeDocument/2006/relationships/image" Target="../media/image-1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84800" y="584200"/>
            <a:ext cx="6045200" cy="5689600"/>
          </a:xfrm>
          <a:prstGeom prst="roundRect">
            <a:avLst>
              <a:gd name="adj" fmla="val 3795"/>
            </a:avLst>
          </a:prstGeom>
          <a:solidFill>
            <a:srgbClr val="FF7932"/>
          </a:soli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7600" y="1054100"/>
            <a:ext cx="190500" cy="190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7000" y="889000"/>
            <a:ext cx="274701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spc="-50" kern="0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Qaracter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30300" y="2667000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PROPUESTA PARA Xesca Alabart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17600" y="2997200"/>
            <a:ext cx="4055110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spc="-50" kern="0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Novelas personalizadas con un harness agéntico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1117600" y="5016500"/>
            <a:ext cx="482600" cy="38100"/>
          </a:xfrm>
          <a:prstGeom prst="rect">
            <a:avLst/>
          </a:prstGeom>
          <a:solidFill>
            <a:srgbClr val="FF7932"/>
          </a:solidFill>
          <a:ln/>
        </p:spPr>
      </p:sp>
      <p:sp>
        <p:nvSpPr>
          <p:cNvPr id="8" name="Text 5"/>
          <p:cNvSpPr/>
          <p:nvPr/>
        </p:nvSpPr>
        <p:spPr>
          <a:xfrm>
            <a:off x="1130300" y="57150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BEYOND YOUR CHALLENGE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67400" y="1143000"/>
            <a:ext cx="5363210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spc="-1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Beyond</a:t>
            </a:r>
            <a:endParaRPr lang="en-US" sz="6400" dirty="0"/>
          </a:p>
          <a:p>
            <a:pPr algn="l" indent="0" marL="0">
              <a:lnSpc>
                <a:spcPts val="6400"/>
              </a:lnSpc>
              <a:buNone/>
            </a:pPr>
            <a:r>
              <a:rPr lang="en-US" sz="6400" b="1" spc="-1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</a:t>
            </a:r>
            <a:endParaRPr lang="en-US" sz="6400" dirty="0"/>
          </a:p>
          <a:p>
            <a:pPr algn="l" indent="0" marL="0">
              <a:lnSpc>
                <a:spcPts val="6400"/>
              </a:lnSpc>
              <a:buNone/>
            </a:pPr>
            <a:r>
              <a:rPr lang="en-US" sz="6400" b="1" spc="-1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Challenge.</a:t>
            </a:r>
            <a:endParaRPr lang="en-US" sz="6400" dirty="0"/>
          </a:p>
        </p:txBody>
      </p:sp>
      <p:sp>
        <p:nvSpPr>
          <p:cNvPr id="10" name="Shape 7"/>
          <p:cNvSpPr/>
          <p:nvPr/>
        </p:nvSpPr>
        <p:spPr>
          <a:xfrm>
            <a:off x="5867400" y="4381500"/>
            <a:ext cx="5080000" cy="12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5867400" y="4572000"/>
            <a:ext cx="22237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FFFF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67400" y="4800600"/>
            <a:ext cx="235458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Xesca Alabart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509000" y="4572000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FFFF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FECHA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509000" y="4800600"/>
            <a:ext cx="196215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25/09/2026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867400" y="5334000"/>
            <a:ext cx="22237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FFFF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67400" y="5562600"/>
            <a:ext cx="52324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Bruno Alejandro Cruz Arias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7493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238241"/>
            <a:ext cx="3088015" cy="28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Qaracter group, all rights reserved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184572" y="6238241"/>
            <a:ext cx="245427" cy="28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· EL PROBLEMA Y EL CLIENTE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1102360"/>
            <a:ext cx="96799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spc="-50" kern="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regalo único: personal y bien escrito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12800" y="1747520"/>
            <a:ext cx="3937000" cy="3200400"/>
          </a:xfrm>
          <a:prstGeom prst="roundRect">
            <a:avLst>
              <a:gd name="adj" fmla="val 3175"/>
            </a:avLst>
          </a:prstGeom>
          <a:solidFill>
            <a:srgbClr val="F3F2EF"/>
          </a:solidFill>
          <a:ln/>
        </p:spPr>
      </p:sp>
      <p:sp>
        <p:nvSpPr>
          <p:cNvPr id="8" name="Text 5"/>
          <p:cNvSpPr/>
          <p:nvPr/>
        </p:nvSpPr>
        <p:spPr>
          <a:xfrm>
            <a:off x="1117600" y="2052320"/>
            <a:ext cx="342722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Quién compra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17600" y="2453640"/>
            <a:ext cx="3427222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Personas que buscan un regalo único: la historia de alguien a quien quieren, convertida en novela.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17600" y="3327400"/>
            <a:ext cx="342722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OCASIONES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120775" y="3670935"/>
            <a:ext cx="681593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8C9A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75080" y="3736340"/>
            <a:ext cx="42378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Hijos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884918" y="3670935"/>
            <a:ext cx="772081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8C9A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39223" y="3736340"/>
            <a:ext cx="51427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Pareja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739549" y="3670935"/>
            <a:ext cx="78232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8C9A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893854" y="3736340"/>
            <a:ext cx="52451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Bodas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120775" y="4115435"/>
            <a:ext cx="12446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8C9A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75080" y="4180840"/>
            <a:ext cx="98679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Aniversarios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447925" y="4115435"/>
            <a:ext cx="1258967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8C9A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602230" y="4180840"/>
            <a:ext cx="10011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Jubilaciones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03800" y="1747520"/>
            <a:ext cx="65666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 QUÉ FALLAN LAS ALTERNATIVAS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003800" y="2116455"/>
            <a:ext cx="6375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03800" y="2296160"/>
            <a:ext cx="235458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Escritor a medida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493000" y="2326640"/>
            <a:ext cx="40027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Caro y lento; no escala a cientos de regalos.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03800" y="2812415"/>
            <a:ext cx="6375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03800" y="2992120"/>
            <a:ext cx="235458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Plantillas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493000" y="3022600"/>
            <a:ext cx="40027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Genéricas: cambian el nombre, no la historia.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003800" y="3508375"/>
            <a:ext cx="6375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03800" y="4396105"/>
            <a:ext cx="6375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03800" y="3688080"/>
            <a:ext cx="235458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IA sin control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493000" y="3718560"/>
            <a:ext cx="400278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Inconsistencias, prosa mecánica y finales abruptos.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19150" y="5208270"/>
            <a:ext cx="10553700" cy="627380"/>
          </a:xfrm>
          <a:prstGeom prst="roundRect">
            <a:avLst>
              <a:gd name="adj" fmla="val 15182"/>
            </a:avLst>
          </a:prstGeom>
          <a:noFill/>
          <a:ln w="12700">
            <a:solidFill>
              <a:srgbClr val="F8793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127760" y="5415280"/>
            <a:ext cx="1595914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OBJETIVO DOBLE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876074" y="5389880"/>
            <a:ext cx="8145539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Personalización real y una calidad narrativa mínima garantizada en cada novela.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7493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238241"/>
            <a:ext cx="30880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Qaracter group, all rights reserved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179969" y="6238241"/>
            <a:ext cx="2500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812800"/>
            <a:ext cx="10883392" cy="238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· CONFIGURACIÓN Y LECTURA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1101885"/>
            <a:ext cx="9679940" cy="415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0"/>
              </a:lnSpc>
              <a:buNone/>
            </a:pPr>
            <a:r>
              <a:rPr lang="en-US" sz="2791" b="1" spc="-50" kern="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Configurar, leer y corregir la novela</a:t>
            </a:r>
            <a:endParaRPr lang="en-US" sz="2791" dirty="0"/>
          </a:p>
        </p:txBody>
      </p:sp>
      <p:sp>
        <p:nvSpPr>
          <p:cNvPr id="7" name="Text 4"/>
          <p:cNvSpPr/>
          <p:nvPr/>
        </p:nvSpPr>
        <p:spPr>
          <a:xfrm>
            <a:off x="812800" y="1746250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CONFIGURACIÓN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2086611"/>
            <a:ext cx="528472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entrevista que detecta lo que falta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2800" y="2457450"/>
            <a:ext cx="528472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Formulario guiado más texto libre</a:t>
            </a:r>
            <a:endParaRPr lang="en-US" sz="1400" dirty="0"/>
          </a:p>
          <a:p>
            <a:pPr algn="l" marL="213360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Detección de datos faltantes</a:t>
            </a:r>
            <a:endParaRPr lang="en-US" sz="1400" dirty="0"/>
          </a:p>
          <a:p>
            <a:pPr algn="l" marL="213360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Detección de contradicciones antes de escribir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15975" y="3334386"/>
            <a:ext cx="5124450" cy="2504440"/>
          </a:xfrm>
          <a:prstGeom prst="roundRect">
            <a:avLst>
              <a:gd name="adj" fmla="val 3423"/>
            </a:avLst>
          </a:prstGeom>
          <a:solidFill>
            <a:srgbClr val="F3F2EF"/>
          </a:solidFill>
          <a:ln w="6350">
            <a:solidFill>
              <a:srgbClr val="E6EAEE"/>
            </a:solidFill>
            <a:prstDash val="solid"/>
          </a:ln>
        </p:spPr>
      </p:sp>
      <p:pic>
        <p:nvPicPr>
          <p:cNvPr id="11" name="Image 1" descr="Entrevista: bloque de datos que faltan y bloque de contradicciones detectadas">    </p:cNvPr>
          <p:cNvPicPr>
            <a:picLocks noChangeAspect="1"/>
          </p:cNvPicPr>
          <p:nvPr/>
        </p:nvPicPr>
        <p:blipFill>
          <a:blip r:embed="rId2"/>
          <a:srcRect l="0" r="0" t="-142" b="-142"/>
          <a:stretch/>
        </p:blipFill>
        <p:spPr>
          <a:xfrm>
            <a:off x="914400" y="3538855"/>
            <a:ext cx="4927600" cy="2095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48400" y="1746250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LECTURA Y CORRECCIÓN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248400" y="2086611"/>
            <a:ext cx="528472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Leer en la web y corregir desde la página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248400" y="2457450"/>
            <a:ext cx="528472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Índice, ficha de personajes y portada con dedicatoria</a:t>
            </a:r>
            <a:endParaRPr lang="en-US" sz="1400" dirty="0"/>
          </a:p>
          <a:p>
            <a:pPr algn="l" marL="213360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Petición de cambio desde la propia página</a:t>
            </a:r>
            <a:endParaRPr lang="en-US" sz="1400" dirty="0"/>
          </a:p>
          <a:p>
            <a:pPr algn="l" marL="213360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Descarga en PDF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251575" y="3334386"/>
            <a:ext cx="5124450" cy="2504440"/>
          </a:xfrm>
          <a:prstGeom prst="roundRect">
            <a:avLst>
              <a:gd name="adj" fmla="val 3423"/>
            </a:avLst>
          </a:prstGeom>
          <a:solidFill>
            <a:srgbClr val="F3F2EF"/>
          </a:solidFill>
          <a:ln w="6350">
            <a:solidFill>
              <a:srgbClr val="E6EAEE"/>
            </a:solidFill>
            <a:prstDash val="solid"/>
          </a:ln>
        </p:spPr>
      </p:sp>
      <p:pic>
        <p:nvPicPr>
          <p:cNvPr id="16" name="Image 2" descr="Lector web: portada con título y dedicatoria, selector de versión y botón de descarga en PDF">    </p:cNvPr>
          <p:cNvPicPr>
            <a:picLocks noChangeAspect="1"/>
          </p:cNvPicPr>
          <p:nvPr/>
        </p:nvPicPr>
        <p:blipFill>
          <a:blip r:embed="rId3"/>
          <a:srcRect l="-41844" r="-41844" t="0" b="0"/>
          <a:stretch/>
        </p:blipFill>
        <p:spPr>
          <a:xfrm>
            <a:off x="6350000" y="3538855"/>
            <a:ext cx="4927600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7493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238239"/>
            <a:ext cx="30880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Qaracter group, all rights reserved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172825" y="6238239"/>
            <a:ext cx="2571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812800"/>
            <a:ext cx="10883392" cy="238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· ARQUITECTURA DEL HARNESS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1101885"/>
            <a:ext cx="9679940" cy="415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0"/>
              </a:lnSpc>
              <a:buNone/>
            </a:pPr>
            <a:r>
              <a:rPr lang="en-US" sz="2791" b="1" spc="-50" kern="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bucle agéntico y quién lo gobierna</a:t>
            </a:r>
            <a:endParaRPr lang="en-US" sz="2791" dirty="0"/>
          </a:p>
        </p:txBody>
      </p:sp>
      <p:sp>
        <p:nvSpPr>
          <p:cNvPr id="7" name="Shape 4"/>
          <p:cNvSpPr/>
          <p:nvPr/>
        </p:nvSpPr>
        <p:spPr>
          <a:xfrm>
            <a:off x="819150" y="1676400"/>
            <a:ext cx="10553700" cy="3067050"/>
          </a:xfrm>
          <a:prstGeom prst="roundRect">
            <a:avLst>
              <a:gd name="adj" fmla="val 3934"/>
            </a:avLst>
          </a:prstGeom>
          <a:noFill/>
          <a:ln w="12700">
            <a:solidFill>
              <a:srgbClr val="1E2D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6960" y="1883411"/>
            <a:ext cx="10339223" cy="23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MÁQUINA DE ESTADOS PROPIA · FASTAPI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76960" y="2249091"/>
            <a:ext cx="1418987" cy="1444466"/>
          </a:xfrm>
          <a:prstGeom prst="roundRect">
            <a:avLst>
              <a:gd name="adj" fmla="val 6265"/>
            </a:avLst>
          </a:prstGeom>
          <a:solidFill>
            <a:srgbClr val="1E2D3D"/>
          </a:solidFill>
          <a:ln/>
        </p:spPr>
      </p:sp>
      <p:sp>
        <p:nvSpPr>
          <p:cNvPr id="10" name="Shape 7"/>
          <p:cNvSpPr/>
          <p:nvPr/>
        </p:nvSpPr>
        <p:spPr>
          <a:xfrm>
            <a:off x="1076960" y="2249091"/>
            <a:ext cx="1418987" cy="1444466"/>
          </a:xfrm>
          <a:custGeom>
            <a:avLst/>
            <a:gdLst/>
            <a:ahLst/>
            <a:cxnLst/>
            <a:rect l="l" t="t" r="r" b="b"/>
            <a:pathLst>
              <a:path w="1418987" h="1444466">
                <a:moveTo>
                  <a:pt x="0" y="88900"/>
                </a:moveTo>
                <a:lnTo>
                  <a:pt x="0" y="88900"/>
                </a:lnTo>
                <a:arcTo hR="88900" wR="88900" stAng="10800000" swAng="5400000"/>
                <a:lnTo>
                  <a:pt x="1330087" y="0"/>
                </a:lnTo>
                <a:arcTo hR="88900" wR="88900" stAng="16200000" swAng="5400000"/>
                <a:lnTo>
                  <a:pt x="1418987" y="88900"/>
                </a:lnTo>
                <a:arcTo hR="50800" wR="88900" stAng="0" swAng="-5400000"/>
                <a:lnTo>
                  <a:pt x="88900" y="38100"/>
                </a:lnTo>
                <a:arcTo hR="50800" wR="88900" stAng="16200000" swAng="-5400000"/>
                <a:close/>
              </a:path>
            </a:pathLst>
          </a:custGeom>
          <a:solidFill>
            <a:srgbClr val="FF7932"/>
          </a:solidFill>
          <a:ln/>
        </p:spPr>
      </p:sp>
      <p:sp>
        <p:nvSpPr>
          <p:cNvPr id="11" name="Text 8"/>
          <p:cNvSpPr/>
          <p:nvPr/>
        </p:nvSpPr>
        <p:spPr>
          <a:xfrm>
            <a:off x="1203960" y="2411651"/>
            <a:ext cx="1215787" cy="22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Interviewer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03960" y="2673113"/>
            <a:ext cx="1215787" cy="64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A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Recoge los datos y genera el brief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03960" y="3353357"/>
            <a:ext cx="1215787" cy="238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793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Sonnet</a:t>
            </a:r>
            <a:endParaRPr lang="en-US" sz="1200" dirty="0"/>
          </a:p>
        </p:txBody>
      </p:sp>
      <p:pic>
        <p:nvPicPr>
          <p:cNvPr id="14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02297" y="2920524"/>
            <a:ext cx="292100" cy="1016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800747" y="2249091"/>
            <a:ext cx="1419066" cy="1444466"/>
          </a:xfrm>
          <a:prstGeom prst="roundRect">
            <a:avLst>
              <a:gd name="adj" fmla="val 6265"/>
            </a:avLst>
          </a:prstGeom>
          <a:solidFill>
            <a:srgbClr val="F5F5F5"/>
          </a:solidFill>
          <a:ln/>
        </p:spPr>
      </p:sp>
      <p:sp>
        <p:nvSpPr>
          <p:cNvPr id="16" name="Shape 12"/>
          <p:cNvSpPr/>
          <p:nvPr/>
        </p:nvSpPr>
        <p:spPr>
          <a:xfrm>
            <a:off x="2800747" y="2249091"/>
            <a:ext cx="1419066" cy="1444466"/>
          </a:xfrm>
          <a:custGeom>
            <a:avLst/>
            <a:gdLst/>
            <a:ahLst/>
            <a:cxnLst/>
            <a:rect l="l" t="t" r="r" b="b"/>
            <a:pathLst>
              <a:path w="1419066" h="1444466">
                <a:moveTo>
                  <a:pt x="0" y="88900"/>
                </a:moveTo>
                <a:lnTo>
                  <a:pt x="0" y="88900"/>
                </a:lnTo>
                <a:arcTo hR="88900" wR="88900" stAng="10800000" swAng="5400000"/>
                <a:lnTo>
                  <a:pt x="1330166" y="0"/>
                </a:lnTo>
                <a:arcTo hR="88900" wR="88900" stAng="16200000" swAng="5400000"/>
                <a:lnTo>
                  <a:pt x="1419066" y="88900"/>
                </a:lnTo>
                <a:arcTo hR="50800" wR="88900" stAng="0" swAng="-5400000"/>
                <a:lnTo>
                  <a:pt x="88900" y="38100"/>
                </a:lnTo>
                <a:arcTo hR="50800" wR="88900" stAng="16200000" swAng="-5400000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17" name="Text 13"/>
          <p:cNvSpPr/>
          <p:nvPr/>
        </p:nvSpPr>
        <p:spPr>
          <a:xfrm>
            <a:off x="2927747" y="2411651"/>
            <a:ext cx="1215866" cy="22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Planner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927747" y="2673113"/>
            <a:ext cx="1215866" cy="64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Esquema de capítulos y arcos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927747" y="3353357"/>
            <a:ext cx="1215866" cy="238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Opus</a:t>
            </a:r>
            <a:endParaRPr lang="en-US" sz="1200" dirty="0"/>
          </a:p>
        </p:txBody>
      </p:sp>
      <p:pic>
        <p:nvPicPr>
          <p:cNvPr id="20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26163" y="2920524"/>
            <a:ext cx="292100" cy="1016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524613" y="2249091"/>
            <a:ext cx="1418987" cy="1444466"/>
          </a:xfrm>
          <a:prstGeom prst="roundRect">
            <a:avLst>
              <a:gd name="adj" fmla="val 6265"/>
            </a:avLst>
          </a:prstGeom>
          <a:solidFill>
            <a:srgbClr val="F5F5F5"/>
          </a:solidFill>
          <a:ln/>
        </p:spPr>
      </p:sp>
      <p:sp>
        <p:nvSpPr>
          <p:cNvPr id="22" name="Shape 17"/>
          <p:cNvSpPr/>
          <p:nvPr/>
        </p:nvSpPr>
        <p:spPr>
          <a:xfrm>
            <a:off x="4524613" y="2249091"/>
            <a:ext cx="1418987" cy="1444466"/>
          </a:xfrm>
          <a:custGeom>
            <a:avLst/>
            <a:gdLst/>
            <a:ahLst/>
            <a:cxnLst/>
            <a:rect l="l" t="t" r="r" b="b"/>
            <a:pathLst>
              <a:path w="1418987" h="1444466">
                <a:moveTo>
                  <a:pt x="0" y="88900"/>
                </a:moveTo>
                <a:lnTo>
                  <a:pt x="0" y="88900"/>
                </a:lnTo>
                <a:arcTo hR="88900" wR="88900" stAng="10800000" swAng="5400000"/>
                <a:lnTo>
                  <a:pt x="1330087" y="0"/>
                </a:lnTo>
                <a:arcTo hR="88900" wR="88900" stAng="16200000" swAng="5400000"/>
                <a:lnTo>
                  <a:pt x="1418987" y="88900"/>
                </a:lnTo>
                <a:arcTo hR="50800" wR="88900" stAng="0" swAng="-5400000"/>
                <a:lnTo>
                  <a:pt x="88900" y="38100"/>
                </a:lnTo>
                <a:arcTo hR="50800" wR="88900" stAng="16200000" swAng="-5400000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23" name="Text 18"/>
          <p:cNvSpPr/>
          <p:nvPr/>
        </p:nvSpPr>
        <p:spPr>
          <a:xfrm>
            <a:off x="4651613" y="2411651"/>
            <a:ext cx="1215787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Writer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651613" y="2673271"/>
            <a:ext cx="1215787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Redacta cada capítulo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651613" y="3148251"/>
            <a:ext cx="12157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Opus</a:t>
            </a:r>
            <a:endParaRPr lang="en-US" sz="1200" dirty="0"/>
          </a:p>
        </p:txBody>
      </p:sp>
      <p:pic>
        <p:nvPicPr>
          <p:cNvPr id="26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49950" y="2920524"/>
            <a:ext cx="292100" cy="10160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6248400" y="2249091"/>
            <a:ext cx="1419066" cy="1444466"/>
          </a:xfrm>
          <a:prstGeom prst="roundRect">
            <a:avLst>
              <a:gd name="adj" fmla="val 6265"/>
            </a:avLst>
          </a:prstGeom>
          <a:solidFill>
            <a:srgbClr val="F5F5F5"/>
          </a:solidFill>
          <a:ln/>
        </p:spPr>
      </p:sp>
      <p:sp>
        <p:nvSpPr>
          <p:cNvPr id="28" name="Shape 22"/>
          <p:cNvSpPr/>
          <p:nvPr/>
        </p:nvSpPr>
        <p:spPr>
          <a:xfrm>
            <a:off x="6248400" y="2249091"/>
            <a:ext cx="1419066" cy="1444466"/>
          </a:xfrm>
          <a:custGeom>
            <a:avLst/>
            <a:gdLst/>
            <a:ahLst/>
            <a:cxnLst/>
            <a:rect l="l" t="t" r="r" b="b"/>
            <a:pathLst>
              <a:path w="1419066" h="1444466">
                <a:moveTo>
                  <a:pt x="0" y="88900"/>
                </a:moveTo>
                <a:lnTo>
                  <a:pt x="0" y="88900"/>
                </a:lnTo>
                <a:arcTo hR="88900" wR="88900" stAng="10800000" swAng="5400000"/>
                <a:lnTo>
                  <a:pt x="1330166" y="0"/>
                </a:lnTo>
                <a:arcTo hR="88900" wR="88900" stAng="16200000" swAng="5400000"/>
                <a:lnTo>
                  <a:pt x="1419066" y="88900"/>
                </a:lnTo>
                <a:arcTo hR="50800" wR="88900" stAng="0" swAng="-5400000"/>
                <a:lnTo>
                  <a:pt x="88900" y="38100"/>
                </a:lnTo>
                <a:arcTo hR="50800" wR="88900" stAng="16200000" swAng="-5400000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29" name="Text 23"/>
          <p:cNvSpPr/>
          <p:nvPr/>
        </p:nvSpPr>
        <p:spPr>
          <a:xfrm>
            <a:off x="6375400" y="2411651"/>
            <a:ext cx="121586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Editor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375400" y="2673271"/>
            <a:ext cx="1215866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Revisa estilo y continuidad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375400" y="3148251"/>
            <a:ext cx="12158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Opus</a:t>
            </a:r>
            <a:endParaRPr lang="en-US" sz="1200" dirty="0"/>
          </a:p>
        </p:txBody>
      </p:sp>
      <p:pic>
        <p:nvPicPr>
          <p:cNvPr id="32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673816" y="2920524"/>
            <a:ext cx="292100" cy="10160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7972266" y="2249091"/>
            <a:ext cx="1418987" cy="1444466"/>
          </a:xfrm>
          <a:prstGeom prst="roundRect">
            <a:avLst>
              <a:gd name="adj" fmla="val 6265"/>
            </a:avLst>
          </a:prstGeom>
          <a:solidFill>
            <a:srgbClr val="F5F5F5"/>
          </a:solidFill>
          <a:ln/>
        </p:spPr>
      </p:sp>
      <p:sp>
        <p:nvSpPr>
          <p:cNvPr id="34" name="Shape 27"/>
          <p:cNvSpPr/>
          <p:nvPr/>
        </p:nvSpPr>
        <p:spPr>
          <a:xfrm>
            <a:off x="7972266" y="2249091"/>
            <a:ext cx="1418987" cy="1444466"/>
          </a:xfrm>
          <a:custGeom>
            <a:avLst/>
            <a:gdLst/>
            <a:ahLst/>
            <a:cxnLst/>
            <a:rect l="l" t="t" r="r" b="b"/>
            <a:pathLst>
              <a:path w="1418987" h="1444466">
                <a:moveTo>
                  <a:pt x="0" y="88900"/>
                </a:moveTo>
                <a:lnTo>
                  <a:pt x="0" y="88900"/>
                </a:lnTo>
                <a:arcTo hR="88900" wR="88900" stAng="10800000" swAng="5400000"/>
                <a:lnTo>
                  <a:pt x="1330087" y="0"/>
                </a:lnTo>
                <a:arcTo hR="88900" wR="88900" stAng="16200000" swAng="5400000"/>
                <a:lnTo>
                  <a:pt x="1418987" y="88900"/>
                </a:lnTo>
                <a:arcTo hR="50800" wR="88900" stAng="0" swAng="-5400000"/>
                <a:lnTo>
                  <a:pt x="88900" y="38100"/>
                </a:lnTo>
                <a:arcTo hR="50800" wR="88900" stAng="16200000" swAng="-5400000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35" name="Text 28"/>
          <p:cNvSpPr/>
          <p:nvPr/>
        </p:nvSpPr>
        <p:spPr>
          <a:xfrm>
            <a:off x="8099266" y="2411651"/>
            <a:ext cx="1215787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Judge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8099266" y="2673271"/>
            <a:ext cx="1215787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Puntúa contra la rúbrica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8099266" y="3148251"/>
            <a:ext cx="12157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Sonnet</a:t>
            </a:r>
            <a:endParaRPr lang="en-US" sz="1200" dirty="0"/>
          </a:p>
        </p:txBody>
      </p:sp>
      <p:pic>
        <p:nvPicPr>
          <p:cNvPr id="38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397603" y="2920524"/>
            <a:ext cx="292100" cy="101600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9696053" y="2249091"/>
            <a:ext cx="1418987" cy="1444466"/>
          </a:xfrm>
          <a:prstGeom prst="roundRect">
            <a:avLst>
              <a:gd name="adj" fmla="val 6265"/>
            </a:avLst>
          </a:prstGeom>
          <a:solidFill>
            <a:srgbClr val="F5F5F5"/>
          </a:solidFill>
          <a:ln/>
        </p:spPr>
      </p:sp>
      <p:sp>
        <p:nvSpPr>
          <p:cNvPr id="40" name="Shape 32"/>
          <p:cNvSpPr/>
          <p:nvPr/>
        </p:nvSpPr>
        <p:spPr>
          <a:xfrm>
            <a:off x="9696053" y="2249091"/>
            <a:ext cx="1418987" cy="1444466"/>
          </a:xfrm>
          <a:custGeom>
            <a:avLst/>
            <a:gdLst/>
            <a:ahLst/>
            <a:cxnLst/>
            <a:rect l="l" t="t" r="r" b="b"/>
            <a:pathLst>
              <a:path w="1418987" h="1444466">
                <a:moveTo>
                  <a:pt x="0" y="88900"/>
                </a:moveTo>
                <a:lnTo>
                  <a:pt x="0" y="88900"/>
                </a:lnTo>
                <a:arcTo hR="88900" wR="88900" stAng="10800000" swAng="5400000"/>
                <a:lnTo>
                  <a:pt x="1330087" y="0"/>
                </a:lnTo>
                <a:arcTo hR="88900" wR="88900" stAng="16200000" swAng="5400000"/>
                <a:lnTo>
                  <a:pt x="1418987" y="88900"/>
                </a:lnTo>
                <a:arcTo hR="50800" wR="88900" stAng="0" swAng="-5400000"/>
                <a:lnTo>
                  <a:pt x="88900" y="38100"/>
                </a:lnTo>
                <a:arcTo hR="50800" wR="88900" stAng="16200000" swAng="-5400000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41" name="Text 33"/>
          <p:cNvSpPr/>
          <p:nvPr/>
        </p:nvSpPr>
        <p:spPr>
          <a:xfrm>
            <a:off x="9823053" y="2411651"/>
            <a:ext cx="1215787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Extractor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9823053" y="2673271"/>
            <a:ext cx="1215787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Actualiza la story bible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9823053" y="3148251"/>
            <a:ext cx="12157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Sonnet</a:t>
            </a:r>
            <a:endParaRPr lang="en-US" sz="1200" dirty="0"/>
          </a:p>
        </p:txBody>
      </p:sp>
      <p:sp>
        <p:nvSpPr>
          <p:cNvPr id="44" name="Shape 36"/>
          <p:cNvSpPr/>
          <p:nvPr/>
        </p:nvSpPr>
        <p:spPr>
          <a:xfrm>
            <a:off x="1076960" y="3845957"/>
            <a:ext cx="4968240" cy="690483"/>
          </a:xfrm>
          <a:prstGeom prst="roundRect">
            <a:avLst>
              <a:gd name="adj" fmla="val 11036"/>
            </a:avLst>
          </a:prstGeom>
          <a:solidFill>
            <a:srgbClr val="FFF7F2"/>
          </a:solidFill>
          <a:ln/>
        </p:spPr>
      </p:sp>
      <p:sp>
        <p:nvSpPr>
          <p:cNvPr id="45" name="Text 37"/>
          <p:cNvSpPr/>
          <p:nvPr/>
        </p:nvSpPr>
        <p:spPr>
          <a:xfrm>
            <a:off x="1254760" y="3960257"/>
            <a:ext cx="4751019" cy="487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Judge por debajo del umbral</a:t>
            </a:r>
            <a:r>
              <a:rPr lang="en-US" sz="13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el capítulo pasa al editor con su feedback.</a:t>
            </a:r>
            <a:endParaRPr lang="en-US" sz="1300" dirty="0"/>
          </a:p>
        </p:txBody>
      </p:sp>
      <p:sp>
        <p:nvSpPr>
          <p:cNvPr id="46" name="Shape 38"/>
          <p:cNvSpPr/>
          <p:nvPr/>
        </p:nvSpPr>
        <p:spPr>
          <a:xfrm>
            <a:off x="6146800" y="3845957"/>
            <a:ext cx="4968240" cy="690483"/>
          </a:xfrm>
          <a:prstGeom prst="roundRect">
            <a:avLst>
              <a:gd name="adj" fmla="val 11036"/>
            </a:avLst>
          </a:prstGeom>
          <a:solidFill>
            <a:srgbClr val="FFF7F2"/>
          </a:solidFill>
          <a:ln/>
        </p:spPr>
      </p:sp>
      <p:sp>
        <p:nvSpPr>
          <p:cNvPr id="47" name="Text 39"/>
          <p:cNvSpPr/>
          <p:nvPr/>
        </p:nvSpPr>
        <p:spPr>
          <a:xfrm>
            <a:off x="6324600" y="3960257"/>
            <a:ext cx="4751019" cy="487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Extractor</a:t>
            </a:r>
            <a:r>
              <a:rPr lang="en-US" sz="13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los hechos nuevos pasan a la story bible, que alimenta al siguiente capítulo.</a:t>
            </a:r>
            <a:endParaRPr lang="en-US" sz="1300" dirty="0"/>
          </a:p>
        </p:txBody>
      </p:sp>
      <p:sp>
        <p:nvSpPr>
          <p:cNvPr id="48" name="Shape 40"/>
          <p:cNvSpPr/>
          <p:nvPr/>
        </p:nvSpPr>
        <p:spPr>
          <a:xfrm>
            <a:off x="831850" y="4927600"/>
            <a:ext cx="0" cy="596900"/>
          </a:xfrm>
          <a:prstGeom prst="line">
            <a:avLst/>
          </a:prstGeom>
          <a:noFill/>
          <a:ln w="38100">
            <a:solidFill>
              <a:srgbClr val="FF7932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1026160" y="4978400"/>
            <a:ext cx="10663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C46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¿Por qué una máquina de estados propia?</a:t>
            </a:r>
            <a:r>
              <a:rPr lang="en-US" sz="1400" dirty="0">
                <a:solidFill>
                  <a:srgbClr val="3C46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Escribir una novela es un proceso conocido: el modelo escribe, el código decide.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7493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238239"/>
            <a:ext cx="30880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Qaracter group, all rights reserved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177270" y="6238239"/>
            <a:ext cx="2527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· ARQUITECTURA DEL HARNESS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1102361"/>
            <a:ext cx="96799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spc="-50" kern="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¿Por qué una máquina de estados propia?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31850" y="1696721"/>
            <a:ext cx="0" cy="624840"/>
          </a:xfrm>
          <a:prstGeom prst="line">
            <a:avLst/>
          </a:prstGeom>
          <a:noFill/>
          <a:ln w="38100">
            <a:solidFill>
              <a:srgbClr val="FF79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6160" y="1734821"/>
            <a:ext cx="10663631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Escribir una novela es un proceso conocido, no una exploración abierta: pedía un workflow explícito, no un agente autónomo.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12800" y="2527936"/>
            <a:ext cx="10566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2800" y="2644139"/>
            <a:ext cx="3401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modelo escribe, el código decide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318000" y="2659382"/>
            <a:ext cx="727303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prompt injection no puede alterar el flujo.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2800" y="3010536"/>
            <a:ext cx="10566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2800" y="3126739"/>
            <a:ext cx="3401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Recuperación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318000" y="3141982"/>
            <a:ext cx="727303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estado se persiste; tras un fallo, se reanuda desde el último capítulo aceptado.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2800" y="3493136"/>
            <a:ext cx="10566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2800" y="3609339"/>
            <a:ext cx="3401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Coste acotado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318000" y="3624582"/>
            <a:ext cx="727303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Presupuesto de intentos y de tokens por estado, así que el peor caso es conocido.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12800" y="3975736"/>
            <a:ext cx="10566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2800" y="4091939"/>
            <a:ext cx="3401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Trazable y probable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318000" y="4107182"/>
            <a:ext cx="727303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transición es un span en Langfuse y se prueba sin gastar tokens.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12800" y="4458336"/>
            <a:ext cx="10566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2800" y="4939666"/>
            <a:ext cx="10566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2800" y="4574539"/>
            <a:ext cx="3401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Verificable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318000" y="4589782"/>
            <a:ext cx="727303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misma tabla de transiciones se comprueba contra TLA+.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12800" y="5146039"/>
            <a:ext cx="10566400" cy="544830"/>
          </a:xfrm>
          <a:prstGeom prst="roundRect">
            <a:avLst>
              <a:gd name="adj" fmla="val 18648"/>
            </a:avLst>
          </a:prstGeom>
          <a:solidFill>
            <a:srgbClr val="F3F2EF"/>
          </a:solidFill>
          <a:ln/>
        </p:spPr>
      </p:sp>
      <p:sp>
        <p:nvSpPr>
          <p:cNvPr id="26" name="Text 23"/>
          <p:cNvSpPr/>
          <p:nvPr/>
        </p:nvSpPr>
        <p:spPr>
          <a:xfrm>
            <a:off x="1066800" y="5311775"/>
            <a:ext cx="1545114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COSTE ASUMIDO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764314" y="5298439"/>
            <a:ext cx="5673557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Más código propio a cambio de control total sobre calidad y coste.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7493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238239"/>
            <a:ext cx="30880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Qaracter group, all rights reserved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175286" y="6238239"/>
            <a:ext cx="2547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· ARQUITECTURA DEL HARNESS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1102361"/>
            <a:ext cx="96799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spc="-50" kern="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 piezas que hacen fiable el bucle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12800" y="1747521"/>
            <a:ext cx="3420507" cy="1795780"/>
          </a:xfrm>
          <a:prstGeom prst="roundRect">
            <a:avLst>
              <a:gd name="adj" fmla="val 5658"/>
            </a:avLst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812800" y="1747521"/>
            <a:ext cx="3420507" cy="1795780"/>
          </a:xfrm>
          <a:custGeom>
            <a:avLst/>
            <a:gdLst/>
            <a:ahLst/>
            <a:cxnLst/>
            <a:rect l="l" t="t" r="r" b="b"/>
            <a:pathLst>
              <a:path w="3420507" h="17957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18907" y="0"/>
                </a:lnTo>
                <a:arcTo hR="101600" wR="101600" stAng="16200000" swAng="5400000"/>
                <a:lnTo>
                  <a:pt x="3420507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9" name="Text 6"/>
          <p:cNvSpPr/>
          <p:nvPr/>
        </p:nvSpPr>
        <p:spPr>
          <a:xfrm>
            <a:off x="1041400" y="2011682"/>
            <a:ext cx="30522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 MANAGEMENT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41400" y="2301239"/>
            <a:ext cx="305220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Contexto por capas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41400" y="2621282"/>
            <a:ext cx="305220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rol recibe solo las capas que necesita, con un límite de 100.000 tokens concurrentes.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85707" y="1747521"/>
            <a:ext cx="3420507" cy="1795780"/>
          </a:xfrm>
          <a:prstGeom prst="roundRect">
            <a:avLst>
              <a:gd name="adj" fmla="val 5658"/>
            </a:avLst>
          </a:prstGeom>
          <a:solidFill>
            <a:srgbClr val="F5F5F5"/>
          </a:solidFill>
          <a:ln/>
        </p:spPr>
      </p:sp>
      <p:sp>
        <p:nvSpPr>
          <p:cNvPr id="13" name="Shape 10"/>
          <p:cNvSpPr/>
          <p:nvPr/>
        </p:nvSpPr>
        <p:spPr>
          <a:xfrm>
            <a:off x="4385707" y="1747521"/>
            <a:ext cx="3420507" cy="1795780"/>
          </a:xfrm>
          <a:custGeom>
            <a:avLst/>
            <a:gdLst/>
            <a:ahLst/>
            <a:cxnLst/>
            <a:rect l="l" t="t" r="r" b="b"/>
            <a:pathLst>
              <a:path w="3420507" h="17957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18907" y="0"/>
                </a:lnTo>
                <a:arcTo hR="101600" wR="101600" stAng="16200000" swAng="5400000"/>
                <a:lnTo>
                  <a:pt x="3420507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14" name="Text 11"/>
          <p:cNvSpPr/>
          <p:nvPr/>
        </p:nvSpPr>
        <p:spPr>
          <a:xfrm>
            <a:off x="4614307" y="2011682"/>
            <a:ext cx="30522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STORY BIBLE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614307" y="2301239"/>
            <a:ext cx="305220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SQLite con versiones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14307" y="2621282"/>
            <a:ext cx="305220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hecho tiene versión y vigencia: se sabe qué era cierto en cada capítulo.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958614" y="1747521"/>
            <a:ext cx="3420507" cy="1795780"/>
          </a:xfrm>
          <a:prstGeom prst="roundRect">
            <a:avLst>
              <a:gd name="adj" fmla="val 5658"/>
            </a:avLst>
          </a:prstGeom>
          <a:solidFill>
            <a:srgbClr val="F5F5F5"/>
          </a:solidFill>
          <a:ln/>
        </p:spPr>
      </p:sp>
      <p:sp>
        <p:nvSpPr>
          <p:cNvPr id="18" name="Shape 15"/>
          <p:cNvSpPr/>
          <p:nvPr/>
        </p:nvSpPr>
        <p:spPr>
          <a:xfrm>
            <a:off x="7958614" y="1747521"/>
            <a:ext cx="3420507" cy="1795780"/>
          </a:xfrm>
          <a:custGeom>
            <a:avLst/>
            <a:gdLst/>
            <a:ahLst/>
            <a:cxnLst/>
            <a:rect l="l" t="t" r="r" b="b"/>
            <a:pathLst>
              <a:path w="3420507" h="17957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18907" y="0"/>
                </a:lnTo>
                <a:arcTo hR="101600" wR="101600" stAng="16200000" swAng="5400000"/>
                <a:lnTo>
                  <a:pt x="3420507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19" name="Text 16"/>
          <p:cNvSpPr/>
          <p:nvPr/>
        </p:nvSpPr>
        <p:spPr>
          <a:xfrm>
            <a:off x="8187214" y="2011682"/>
            <a:ext cx="30522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TOOLS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187214" y="2301239"/>
            <a:ext cx="305220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Schema validado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187214" y="2621282"/>
            <a:ext cx="305220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Toda llamada a una tool se valida contra su schema antes de ejecutarse.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12800" y="3695700"/>
            <a:ext cx="3420507" cy="1795780"/>
          </a:xfrm>
          <a:prstGeom prst="roundRect">
            <a:avLst>
              <a:gd name="adj" fmla="val 5658"/>
            </a:avLst>
          </a:prstGeom>
          <a:solidFill>
            <a:srgbClr val="F5F5F5"/>
          </a:solidFill>
          <a:ln/>
        </p:spPr>
      </p:sp>
      <p:sp>
        <p:nvSpPr>
          <p:cNvPr id="23" name="Shape 20"/>
          <p:cNvSpPr/>
          <p:nvPr/>
        </p:nvSpPr>
        <p:spPr>
          <a:xfrm>
            <a:off x="812800" y="3695700"/>
            <a:ext cx="3420507" cy="1795780"/>
          </a:xfrm>
          <a:custGeom>
            <a:avLst/>
            <a:gdLst/>
            <a:ahLst/>
            <a:cxnLst/>
            <a:rect l="l" t="t" r="r" b="b"/>
            <a:pathLst>
              <a:path w="3420507" h="17957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18907" y="0"/>
                </a:lnTo>
                <a:arcTo hR="101600" wR="101600" stAng="16200000" swAng="5400000"/>
                <a:lnTo>
                  <a:pt x="3420507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24" name="Text 21"/>
          <p:cNvSpPr/>
          <p:nvPr/>
        </p:nvSpPr>
        <p:spPr>
          <a:xfrm>
            <a:off x="1041400" y="3959861"/>
            <a:ext cx="30522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HOOK 1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41400" y="4249421"/>
            <a:ext cx="305220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Validación del capítulo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41400" y="4569461"/>
            <a:ext cx="305220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ejecuta al cerrar cada capítulo; si no pasa, el capítulo no avanza.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385707" y="3695700"/>
            <a:ext cx="3420507" cy="1795780"/>
          </a:xfrm>
          <a:prstGeom prst="roundRect">
            <a:avLst>
              <a:gd name="adj" fmla="val 5658"/>
            </a:avLst>
          </a:prstGeom>
          <a:solidFill>
            <a:srgbClr val="F5F5F5"/>
          </a:solidFill>
          <a:ln/>
        </p:spPr>
      </p:sp>
      <p:sp>
        <p:nvSpPr>
          <p:cNvPr id="28" name="Shape 25"/>
          <p:cNvSpPr/>
          <p:nvPr/>
        </p:nvSpPr>
        <p:spPr>
          <a:xfrm>
            <a:off x="4385707" y="3695700"/>
            <a:ext cx="3420507" cy="1795780"/>
          </a:xfrm>
          <a:custGeom>
            <a:avLst/>
            <a:gdLst/>
            <a:ahLst/>
            <a:cxnLst/>
            <a:rect l="l" t="t" r="r" b="b"/>
            <a:pathLst>
              <a:path w="3420507" h="17957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18907" y="0"/>
                </a:lnTo>
                <a:arcTo hR="101600" wR="101600" stAng="16200000" swAng="5400000"/>
                <a:lnTo>
                  <a:pt x="3420507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29" name="Text 26"/>
          <p:cNvSpPr/>
          <p:nvPr/>
        </p:nvSpPr>
        <p:spPr>
          <a:xfrm>
            <a:off x="4614307" y="3959861"/>
            <a:ext cx="30522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HOOK 2 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614307" y="4249421"/>
            <a:ext cx="305220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Policy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614307" y="4569461"/>
            <a:ext cx="305220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acción pasa por el policy engine antes de ejecutarse y su decisión queda registrada.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7958614" y="3695700"/>
            <a:ext cx="3420507" cy="1795780"/>
          </a:xfrm>
          <a:prstGeom prst="roundRect">
            <a:avLst>
              <a:gd name="adj" fmla="val 5658"/>
            </a:avLst>
          </a:prstGeom>
          <a:solidFill>
            <a:srgbClr val="1E2D3D"/>
          </a:solidFill>
          <a:ln/>
        </p:spPr>
      </p:sp>
      <p:sp>
        <p:nvSpPr>
          <p:cNvPr id="33" name="Shape 30"/>
          <p:cNvSpPr/>
          <p:nvPr/>
        </p:nvSpPr>
        <p:spPr>
          <a:xfrm>
            <a:off x="7958614" y="3695700"/>
            <a:ext cx="3420507" cy="1795780"/>
          </a:xfrm>
          <a:custGeom>
            <a:avLst/>
            <a:gdLst/>
            <a:ahLst/>
            <a:cxnLst/>
            <a:rect l="l" t="t" r="r" b="b"/>
            <a:pathLst>
              <a:path w="3420507" h="17957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18907" y="0"/>
                </a:lnTo>
                <a:arcTo hR="101600" wR="101600" stAng="16200000" swAng="5400000"/>
                <a:lnTo>
                  <a:pt x="3420507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7932"/>
          </a:solidFill>
          <a:ln/>
        </p:spPr>
      </p:sp>
      <p:sp>
        <p:nvSpPr>
          <p:cNvPr id="34" name="Text 31"/>
          <p:cNvSpPr/>
          <p:nvPr/>
        </p:nvSpPr>
        <p:spPr>
          <a:xfrm>
            <a:off x="8187214" y="3959861"/>
            <a:ext cx="30522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793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 REUTILIZABLE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187214" y="4249421"/>
            <a:ext cx="305220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personalizacion-natural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187214" y="4569461"/>
            <a:ext cx="305220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A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 los datos del regalo en la trama sin que suenen forzados.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7493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238239"/>
            <a:ext cx="30880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Qaracter group, all rights reserved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191081" y="6238239"/>
            <a:ext cx="2389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· VALIDACIÓN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1102361"/>
            <a:ext cx="96799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spc="-50" kern="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Cuatro validadores, cada uno en su sitio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57681"/>
          <a:ext cx="10556240" cy="3042920"/>
        </p:xfrm>
        <a:graphic>
          <a:graphicData uri="http://schemas.openxmlformats.org/drawingml/2006/table">
            <a:tbl>
              <a:tblPr/>
              <a:tblGrid>
                <a:gridCol w="2955747"/>
                <a:gridCol w="4222496"/>
                <a:gridCol w="3377997"/>
              </a:tblGrid>
              <a:tr h="4699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TIPO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QUÉ COMPRUEBA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DÓNDE ACTÚA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33441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Programáticos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33441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Formato, schema, longitud y palabras prohibidas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631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Hook de capítulo · hook de policy · export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33441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Semánticos: LLM-as-judge y revisión humana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33441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Calidad de la prosa, tono y personalización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631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Editor · gate de publicación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33441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Lean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33441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Coherencia de la historia: hechos, fechas y personajes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631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Gate de publicación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33441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TLA+ 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33441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El propio harness: sus estados y transiciones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631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Desarrollo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19150" y="5060950"/>
            <a:ext cx="10553700" cy="543560"/>
          </a:xfrm>
          <a:prstGeom prst="roundRect">
            <a:avLst>
              <a:gd name="adj" fmla="val 17523"/>
            </a:avLst>
          </a:prstGeom>
          <a:noFill/>
          <a:ln w="12700">
            <a:solidFill>
              <a:srgbClr val="F8793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070732" y="5217161"/>
            <a:ext cx="80504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determinista actúa primero y en cada paso; el juicio humano, en el gate de publicación.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7493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238242"/>
            <a:ext cx="30880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Qaracter group, all rights reserved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175524" y="6238242"/>
            <a:ext cx="2544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· EVALUACIÓN Y OBSERVABILIDAD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1102361"/>
            <a:ext cx="96799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spc="-50" kern="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Resultados por brief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12800" y="1569721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3C46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Evaluación preliminar con ejecuciones reales del sistema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12800" y="1927861"/>
            <a:ext cx="10566400" cy="52324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189482"/>
            <a:ext cx="194906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Ejecución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09900" y="2189482"/>
            <a:ext cx="143510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0" y="1991361"/>
            <a:ext cx="8636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Inyección contenida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588000" y="1991361"/>
            <a:ext cx="11176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Validadores de capítulo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1991361"/>
            <a:ext cx="9906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Judge (6 criterios)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001000" y="2189482"/>
            <a:ext cx="99060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cierre_arco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0" y="2189482"/>
            <a:ext cx="120650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render_visual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02900" y="2189482"/>
            <a:ext cx="80010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12800" y="2451100"/>
            <a:ext cx="10566400" cy="3797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812800" y="2827655"/>
            <a:ext cx="10566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2539364"/>
            <a:ext cx="194906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Adversarial (B1 parcial)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009900" y="2539364"/>
            <a:ext cx="143510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Publicada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0" y="2514600"/>
            <a:ext cx="863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E7D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588000" y="2514600"/>
            <a:ext cx="1117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E7D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858000" y="2514600"/>
            <a:ext cx="990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E7D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001000" y="2514600"/>
            <a:ext cx="990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E7D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144000" y="2514600"/>
            <a:ext cx="12065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0502900" y="2514600"/>
            <a:ext cx="8001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812800" y="2830832"/>
            <a:ext cx="10566400" cy="52832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28" name="Shape 25"/>
          <p:cNvSpPr/>
          <p:nvPr/>
        </p:nvSpPr>
        <p:spPr>
          <a:xfrm>
            <a:off x="812800" y="3355977"/>
            <a:ext cx="10566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2894332"/>
            <a:ext cx="1949069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Primera novela de la demo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009900" y="2993389"/>
            <a:ext cx="143510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Rechazada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72000" y="2968625"/>
            <a:ext cx="863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5588000" y="2968625"/>
            <a:ext cx="1117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E7D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r>
              <a:rPr lang="en-US" sz="15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*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858000" y="2968625"/>
            <a:ext cx="990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E7D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8001000" y="2968625"/>
            <a:ext cx="990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C628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✗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9144000" y="2968625"/>
            <a:ext cx="12065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E7D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10502900" y="2968625"/>
            <a:ext cx="8001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812800" y="3359150"/>
            <a:ext cx="10566400" cy="3797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5"/>
          <p:cNvSpPr/>
          <p:nvPr/>
        </p:nvSpPr>
        <p:spPr>
          <a:xfrm>
            <a:off x="812800" y="3735705"/>
            <a:ext cx="10566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14400" y="3447414"/>
            <a:ext cx="194906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Soltar amarras v1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3009900" y="3447414"/>
            <a:ext cx="143510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Publicada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572000" y="3422650"/>
            <a:ext cx="863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5588000" y="3422650"/>
            <a:ext cx="1117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E7D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6858000" y="3422650"/>
            <a:ext cx="990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E7D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8001000" y="3422650"/>
            <a:ext cx="990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E7D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9144000" y="3422650"/>
            <a:ext cx="12065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E7D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10502900" y="3422650"/>
            <a:ext cx="8001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812800" y="3738882"/>
            <a:ext cx="10566400" cy="52832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48" name="Shape 45"/>
          <p:cNvSpPr/>
          <p:nvPr/>
        </p:nvSpPr>
        <p:spPr>
          <a:xfrm>
            <a:off x="812800" y="4264027"/>
            <a:ext cx="10566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14400" y="3901439"/>
            <a:ext cx="194906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Regeneraciones v2 → v3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3009900" y="3802382"/>
            <a:ext cx="14351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v2 detenida · v3 publicada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4572000" y="3876675"/>
            <a:ext cx="863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</a:t>
            </a:r>
            <a:endParaRPr lang="en-US" sz="1500" dirty="0"/>
          </a:p>
        </p:txBody>
      </p:sp>
      <p:sp>
        <p:nvSpPr>
          <p:cNvPr id="52" name="Text 49"/>
          <p:cNvSpPr/>
          <p:nvPr/>
        </p:nvSpPr>
        <p:spPr>
          <a:xfrm>
            <a:off x="5588000" y="3876675"/>
            <a:ext cx="1117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C628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✗</a:t>
            </a:r>
            <a:r>
              <a:rPr lang="en-US" sz="15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</a:t>
            </a:r>
            <a:r>
              <a:rPr lang="en-US" sz="1500" b="1" dirty="0">
                <a:solidFill>
                  <a:srgbClr val="2E7D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500" dirty="0"/>
          </a:p>
        </p:txBody>
      </p:sp>
      <p:sp>
        <p:nvSpPr>
          <p:cNvPr id="53" name="Text 50"/>
          <p:cNvSpPr/>
          <p:nvPr/>
        </p:nvSpPr>
        <p:spPr>
          <a:xfrm>
            <a:off x="6858000" y="3876675"/>
            <a:ext cx="990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E7D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500" dirty="0"/>
          </a:p>
        </p:txBody>
      </p:sp>
      <p:sp>
        <p:nvSpPr>
          <p:cNvPr id="54" name="Text 51"/>
          <p:cNvSpPr/>
          <p:nvPr/>
        </p:nvSpPr>
        <p:spPr>
          <a:xfrm>
            <a:off x="8001000" y="3876675"/>
            <a:ext cx="990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C628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✗</a:t>
            </a:r>
            <a:r>
              <a:rPr lang="en-US" sz="15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</a:t>
            </a:r>
            <a:r>
              <a:rPr lang="en-US" sz="1500" b="1" dirty="0">
                <a:solidFill>
                  <a:srgbClr val="2E7D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500" dirty="0"/>
          </a:p>
        </p:txBody>
      </p:sp>
      <p:sp>
        <p:nvSpPr>
          <p:cNvPr id="55" name="Text 52"/>
          <p:cNvSpPr/>
          <p:nvPr/>
        </p:nvSpPr>
        <p:spPr>
          <a:xfrm>
            <a:off x="9144000" y="3876675"/>
            <a:ext cx="12065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E7D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500" dirty="0"/>
          </a:p>
        </p:txBody>
      </p:sp>
      <p:sp>
        <p:nvSpPr>
          <p:cNvPr id="56" name="Text 53"/>
          <p:cNvSpPr/>
          <p:nvPr/>
        </p:nvSpPr>
        <p:spPr>
          <a:xfrm>
            <a:off x="10502900" y="3876675"/>
            <a:ext cx="8001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</a:t>
            </a:r>
            <a:endParaRPr lang="en-US" sz="1500" dirty="0"/>
          </a:p>
        </p:txBody>
      </p:sp>
      <p:sp>
        <p:nvSpPr>
          <p:cNvPr id="57" name="Shape 54"/>
          <p:cNvSpPr/>
          <p:nvPr/>
        </p:nvSpPr>
        <p:spPr>
          <a:xfrm>
            <a:off x="812800" y="4267200"/>
            <a:ext cx="10566400" cy="528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5"/>
          <p:cNvSpPr/>
          <p:nvPr/>
        </p:nvSpPr>
        <p:spPr>
          <a:xfrm>
            <a:off x="812800" y="4792345"/>
            <a:ext cx="10566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914400" y="4330700"/>
            <a:ext cx="1949069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B2 · incoherencia temporal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3009900" y="4330700"/>
            <a:ext cx="14351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Rechazada por Lean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4572000" y="4404996"/>
            <a:ext cx="863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</a:t>
            </a:r>
            <a:endParaRPr lang="en-US" sz="1500" dirty="0"/>
          </a:p>
        </p:txBody>
      </p:sp>
      <p:sp>
        <p:nvSpPr>
          <p:cNvPr id="62" name="Text 59"/>
          <p:cNvSpPr/>
          <p:nvPr/>
        </p:nvSpPr>
        <p:spPr>
          <a:xfrm>
            <a:off x="5588000" y="4404996"/>
            <a:ext cx="1117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E7D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500" dirty="0"/>
          </a:p>
        </p:txBody>
      </p:sp>
      <p:sp>
        <p:nvSpPr>
          <p:cNvPr id="63" name="Text 60"/>
          <p:cNvSpPr/>
          <p:nvPr/>
        </p:nvSpPr>
        <p:spPr>
          <a:xfrm>
            <a:off x="6858000" y="4404996"/>
            <a:ext cx="990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E7D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500" dirty="0"/>
          </a:p>
        </p:txBody>
      </p:sp>
      <p:sp>
        <p:nvSpPr>
          <p:cNvPr id="64" name="Text 61"/>
          <p:cNvSpPr/>
          <p:nvPr/>
        </p:nvSpPr>
        <p:spPr>
          <a:xfrm>
            <a:off x="8001000" y="4404996"/>
            <a:ext cx="990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E7D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500" dirty="0"/>
          </a:p>
        </p:txBody>
      </p:sp>
      <p:sp>
        <p:nvSpPr>
          <p:cNvPr id="65" name="Text 62"/>
          <p:cNvSpPr/>
          <p:nvPr/>
        </p:nvSpPr>
        <p:spPr>
          <a:xfrm>
            <a:off x="9144000" y="4404996"/>
            <a:ext cx="12065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E7D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500" dirty="0"/>
          </a:p>
        </p:txBody>
      </p:sp>
      <p:sp>
        <p:nvSpPr>
          <p:cNvPr id="66" name="Text 63"/>
          <p:cNvSpPr/>
          <p:nvPr/>
        </p:nvSpPr>
        <p:spPr>
          <a:xfrm>
            <a:off x="10502900" y="4404996"/>
            <a:ext cx="8001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C628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✗</a:t>
            </a:r>
            <a:endParaRPr lang="en-US" sz="1500" dirty="0"/>
          </a:p>
        </p:txBody>
      </p:sp>
      <p:sp>
        <p:nvSpPr>
          <p:cNvPr id="67" name="Text 64"/>
          <p:cNvSpPr/>
          <p:nvPr/>
        </p:nvSpPr>
        <p:spPr>
          <a:xfrm>
            <a:off x="812800" y="4922521"/>
            <a:ext cx="10883392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2E7D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r>
              <a:rPr lang="en-US" sz="1200" dirty="0">
                <a:solidFill>
                  <a:srgbClr val="3C46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pasa · </a:t>
            </a:r>
            <a:r>
              <a:rPr lang="en-US" sz="1200" b="1" dirty="0">
                <a:solidFill>
                  <a:srgbClr val="C628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✗</a:t>
            </a:r>
            <a:r>
              <a:rPr lang="en-US" sz="1200" dirty="0">
                <a:solidFill>
                  <a:srgbClr val="3C46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falla · </a:t>
            </a:r>
            <a:r>
              <a:rPr lang="en-US" sz="1200" b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</a:t>
            </a:r>
            <a:r>
              <a:rPr lang="en-US" sz="1200" dirty="0">
                <a:solidFill>
                  <a:srgbClr val="3C46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 aplica o no existía todavía. * Pasaron, pero ninguno detectó un nombre anonimizado en el capítulo 10: se añadió la comprobación después.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812800" y="5461000"/>
            <a:ext cx="1088339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i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ejecuciones reales. Limitaciones: el mismo brief en varias ejecuciones, versiones de código distintas entre filas, y briefs B3–B5 pendientes.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7493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238242"/>
            <a:ext cx="30880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Qaracter group, all rights reserved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175286" y="6238242"/>
            <a:ext cx="2547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· EVALUACIÓN Y OBSERVABILIDAD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1102364"/>
            <a:ext cx="3528191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spc="-50" kern="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que detectó Lean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416028" y="1153164"/>
            <a:ext cx="1213247" cy="289560"/>
          </a:xfrm>
          <a:prstGeom prst="roundRect">
            <a:avLst>
              <a:gd name="adj" fmla="val 50000"/>
            </a:avLst>
          </a:prstGeom>
          <a:solidFill>
            <a:srgbClr val="F4631E"/>
          </a:solidFill>
          <a:ln/>
        </p:spPr>
      </p:sp>
      <p:sp>
        <p:nvSpPr>
          <p:cNvPr id="8" name="Text 5"/>
          <p:cNvSpPr/>
          <p:nvPr/>
        </p:nvSpPr>
        <p:spPr>
          <a:xfrm>
            <a:off x="4543028" y="1191264"/>
            <a:ext cx="1010047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CASO REAL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2800" y="1671321"/>
            <a:ext cx="47091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Lean caza un recuerdo imposible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12800" y="2059942"/>
            <a:ext cx="11469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78297" y="2059942"/>
            <a:ext cx="453869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C46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destinataria nace en 1990; la novela la sitúa en la feria de 1986.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2800" y="2636521"/>
            <a:ext cx="11469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78297" y="2636521"/>
            <a:ext cx="453869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C46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Todos los demás validadores pasaron, y el judge dio la fecha por «respetada».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2800" y="3213100"/>
            <a:ext cx="11469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78297" y="3213100"/>
            <a:ext cx="453869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C46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lean_nacimiento no se demuestra en tres eventos: la versión no se publica y el fallo vuelve al editor.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2800" y="3789679"/>
            <a:ext cx="11469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78297" y="3789679"/>
            <a:ext cx="453869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C46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Caso real: ni el texto ni la story bible se tocaron a mano.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89600" y="1671321"/>
            <a:ext cx="58602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LEAN 4 · STORY BIBLE DE B2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89600" y="1960879"/>
            <a:ext cx="5689600" cy="2456180"/>
          </a:xfrm>
          <a:prstGeom prst="roundRect">
            <a:avLst>
              <a:gd name="adj" fmla="val 4137"/>
            </a:avLst>
          </a:prstGeom>
          <a:solidFill>
            <a:srgbClr val="1E2D3D"/>
          </a:solidFill>
          <a:ln/>
        </p:spPr>
      </p:sp>
      <p:sp>
        <p:nvSpPr>
          <p:cNvPr id="20" name="Text 17"/>
          <p:cNvSpPr/>
          <p:nvPr/>
        </p:nvSpPr>
        <p:spPr>
          <a:xfrm>
            <a:off x="5892800" y="2164079"/>
            <a:ext cx="544169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A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e12 : Evento := Evento.mk 12 304 (some 1986) (some 3) [Presencia.mk 1 none, Presencia.mk 2 none]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92800" y="2679700"/>
            <a:ext cx="544169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A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nacimientos : List Nacimiento := [Nacimiento.mk 1 1990]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892800" y="3195321"/>
            <a:ext cx="544169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A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theorem nacimiento_e12 : nacimientoOk nacimientos e12 = true := by decide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892800" y="3710942"/>
            <a:ext cx="5283200" cy="502920"/>
          </a:xfrm>
          <a:prstGeom prst="rect">
            <a:avLst/>
          </a:prstGeom>
          <a:solidFill>
            <a:srgbClr val="3A1F24"/>
          </a:solidFill>
          <a:ln/>
        </p:spPr>
      </p:sp>
      <p:sp>
        <p:nvSpPr>
          <p:cNvPr id="24" name="Shape 21"/>
          <p:cNvSpPr/>
          <p:nvPr/>
        </p:nvSpPr>
        <p:spPr>
          <a:xfrm>
            <a:off x="5911850" y="3710942"/>
            <a:ext cx="0" cy="502920"/>
          </a:xfrm>
          <a:prstGeom prst="line">
            <a:avLst/>
          </a:prstGeom>
          <a:noFill/>
          <a:ln w="38100">
            <a:solidFill>
              <a:srgbClr val="FF5A4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17260" y="3749042"/>
            <a:ext cx="522193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error: Tactic `decide` proved that the proposition … is false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7493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238242"/>
            <a:ext cx="30880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Qaracter group, all rights reserved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16402" y="6238242"/>
            <a:ext cx="2135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· EVALUACIÓN Y OBSERVABILIDAD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1102364"/>
            <a:ext cx="96799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spc="-50" kern="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Tracing: trazas reales en Langfuse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12800" y="1671321"/>
            <a:ext cx="56509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ÁRBOL DE SPANS DE UNA GENERACIÓN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15975" y="1951354"/>
            <a:ext cx="5480050" cy="3427730"/>
          </a:xfrm>
          <a:prstGeom prst="roundRect">
            <a:avLst>
              <a:gd name="adj" fmla="val 2130"/>
            </a:avLst>
          </a:prstGeom>
          <a:solidFill>
            <a:srgbClr val="FFFFFF"/>
          </a:solidFill>
          <a:ln w="6350">
            <a:solidFill>
              <a:srgbClr val="E6EAEE"/>
            </a:solidFill>
            <a:prstDash val="solid"/>
          </a:ln>
        </p:spPr>
      </p:sp>
      <p:pic>
        <p:nvPicPr>
          <p:cNvPr id="9" name="Image 1" descr="Langfuse: árbol de spans de un capítulo (writer, hooks, judge, editor y consultas a la story bible) y el prompt de sistema del writer">    </p:cNvPr>
          <p:cNvPicPr>
            <a:picLocks noChangeAspect="1"/>
          </p:cNvPicPr>
          <p:nvPr/>
        </p:nvPicPr>
        <p:blipFill>
          <a:blip r:embed="rId2"/>
          <a:srcRect l="-21846" r="-21846" t="0" b="0"/>
          <a:stretch/>
        </p:blipFill>
        <p:spPr>
          <a:xfrm>
            <a:off x="869950" y="2004064"/>
            <a:ext cx="5372100" cy="3322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2800" y="5445764"/>
            <a:ext cx="5650992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rol y cada tool es un span: el writer tardó 1 min 19 s, costó 0,17 USD y usó 14.108 tokens.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553200" y="1671321"/>
            <a:ext cx="49707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TRAZAS DEL PROYECTO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556375" y="1951354"/>
            <a:ext cx="4819650" cy="727710"/>
          </a:xfrm>
          <a:prstGeom prst="roundRect">
            <a:avLst>
              <a:gd name="adj" fmla="val 10035"/>
            </a:avLst>
          </a:prstGeom>
          <a:solidFill>
            <a:srgbClr val="FFFFFF"/>
          </a:solidFill>
          <a:ln w="6350">
            <a:solidFill>
              <a:srgbClr val="E6EAEE"/>
            </a:solidFill>
            <a:prstDash val="solid"/>
          </a:ln>
        </p:spPr>
      </p:sp>
      <p:pic>
        <p:nvPicPr>
          <p:cNvPr id="13" name="Image 2" descr="Langfuse: lista de trazas con una generación y una comprobación de Lean del 25 de septiembre de 2026">    </p:cNvPr>
          <p:cNvPicPr>
            <a:picLocks noChangeAspect="1"/>
          </p:cNvPicPr>
          <p:nvPr/>
        </p:nvPicPr>
        <p:blipFill>
          <a:blip r:embed="rId3"/>
          <a:srcRect l="0" r="0" t="-343" b="-343"/>
          <a:stretch/>
        </p:blipFill>
        <p:spPr>
          <a:xfrm>
            <a:off x="6610350" y="2004064"/>
            <a:ext cx="4711700" cy="622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53200" y="2745742"/>
            <a:ext cx="497078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traza por generación y otra por comprobación de Lean.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553200" y="3096264"/>
            <a:ext cx="49707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SCORES POR VALIDADOR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556375" y="3376296"/>
            <a:ext cx="4819650" cy="2200910"/>
          </a:xfrm>
          <a:prstGeom prst="roundRect">
            <a:avLst>
              <a:gd name="adj" fmla="val 3318"/>
            </a:avLst>
          </a:prstGeom>
          <a:solidFill>
            <a:srgbClr val="FFFFFF"/>
          </a:solidFill>
          <a:ln w="6350">
            <a:solidFill>
              <a:srgbClr val="E6EAEE"/>
            </a:solidFill>
            <a:prstDash val="solid"/>
          </a:ln>
        </p:spPr>
      </p:sp>
      <p:pic>
        <p:nvPicPr>
          <p:cNvPr id="17" name="Image 3" descr="Langfuse: scores por validador y capítulo, de adecuacion_tono a lean_edad">    </p:cNvPr>
          <p:cNvPicPr>
            <a:picLocks noChangeAspect="1"/>
          </p:cNvPicPr>
          <p:nvPr/>
        </p:nvPicPr>
        <p:blipFill>
          <a:blip r:embed="rId4"/>
          <a:srcRect l="-7247" r="-7247" t="0" b="0"/>
          <a:stretch/>
        </p:blipFill>
        <p:spPr>
          <a:xfrm>
            <a:off x="6610350" y="3429000"/>
            <a:ext cx="4711700" cy="20955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53200" y="5643879"/>
            <a:ext cx="497078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validador deja un score por capítulo e intento.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7493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238242"/>
            <a:ext cx="30880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Qaracter group, all rights reserved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68234" y="6238242"/>
            <a:ext cx="1617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· GUARDRAILS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1102364"/>
            <a:ext cx="96799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spc="-50" kern="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Contenido, datos personales y seguridad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12800" y="1747521"/>
            <a:ext cx="6350000" cy="4094480"/>
          </a:xfrm>
          <a:prstGeom prst="roundRect">
            <a:avLst>
              <a:gd name="adj" fmla="val 2481"/>
            </a:avLst>
          </a:prstGeom>
          <a:solidFill>
            <a:srgbClr val="F3F2EF"/>
          </a:solidFill>
          <a:ln/>
        </p:spPr>
      </p:sp>
      <p:sp>
        <p:nvSpPr>
          <p:cNvPr id="8" name="Text 5"/>
          <p:cNvSpPr/>
          <p:nvPr/>
        </p:nvSpPr>
        <p:spPr>
          <a:xfrm>
            <a:off x="1041400" y="1925321"/>
            <a:ext cx="60695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guardrail veta palabras en cualquiera de sus formas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44575" y="2220596"/>
            <a:ext cx="688816" cy="26797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8080" y="2247901"/>
            <a:ext cx="532606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Global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803241" y="2220596"/>
            <a:ext cx="1332151" cy="26797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06746" y="2247901"/>
            <a:ext cx="1175941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Perfil del lector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5242" y="2220596"/>
            <a:ext cx="1707436" cy="26797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08747" y="2247901"/>
            <a:ext cx="1551226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Lista del comprador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79353" y="2247900"/>
            <a:ext cx="16406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gana el más restrictivo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41400" y="2555242"/>
            <a:ext cx="6069584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Normaliza los dos lados: mayúsculas, acentos, signos, plurales y diminutivos.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41400" y="2842264"/>
            <a:ext cx="60695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CASO REAL · NOVELA B2, CAPÍTULO 6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41400" y="3119121"/>
            <a:ext cx="5892800" cy="6032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1041400" y="3119121"/>
            <a:ext cx="5892800" cy="603250"/>
          </a:xfrm>
          <a:custGeom>
            <a:avLst/>
            <a:gdLst/>
            <a:ahLst/>
            <a:cxnLst/>
            <a:rect l="l" t="t" r="r" b="b"/>
            <a:pathLst>
              <a:path w="5892800" h="603250">
                <a:moveTo>
                  <a:pt x="63500" y="603250"/>
                </a:moveTo>
                <a:lnTo>
                  <a:pt x="63500" y="603250"/>
                </a:lnTo>
                <a:arcTo hR="63500" wR="63500" stAng="5400000" swAng="5400000"/>
                <a:lnTo>
                  <a:pt x="0" y="63500"/>
                </a:lnTo>
                <a:arcTo hR="63500" wR="63500" stAng="10800000" swAng="5400000"/>
                <a:lnTo>
                  <a:pt x="63500" y="0"/>
                </a:lnTo>
                <a:arcTo hR="63500" wR="25400" stAng="16200000" swAng="-5400000"/>
                <a:lnTo>
                  <a:pt x="38100" y="539750"/>
                </a:lnTo>
                <a:arcTo hR="63500" wR="25400" stAng="10800000" swAng="-5400000"/>
                <a:close/>
              </a:path>
            </a:pathLst>
          </a:custGeom>
          <a:solidFill>
            <a:srgbClr val="6B7682"/>
          </a:solidFill>
          <a:ln/>
        </p:spPr>
      </p:sp>
      <p:sp>
        <p:nvSpPr>
          <p:cNvPr id="20" name="Text 17"/>
          <p:cNvSpPr/>
          <p:nvPr/>
        </p:nvSpPr>
        <p:spPr>
          <a:xfrm>
            <a:off x="1203960" y="3314067"/>
            <a:ext cx="876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156460" y="3195321"/>
            <a:ext cx="479026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«…no había </a:t>
            </a:r>
            <a:r>
              <a:rPr lang="en-US" sz="13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remedio</a:t>
            </a:r>
            <a:r>
              <a:rPr lang="en-US" sz="13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…»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156460" y="3448050"/>
            <a:ext cx="479026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i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Frase ilustrativa: el borrador rechazado no se guarda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041400" y="3785871"/>
            <a:ext cx="5892800" cy="647700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1041400" y="3785871"/>
            <a:ext cx="5892800" cy="647700"/>
          </a:xfrm>
          <a:custGeom>
            <a:avLst/>
            <a:gdLst/>
            <a:ahLst/>
            <a:cxnLst/>
            <a:rect l="l" t="t" r="r" b="b"/>
            <a:pathLst>
              <a:path w="5892800" h="647700">
                <a:moveTo>
                  <a:pt x="63500" y="647700"/>
                </a:moveTo>
                <a:lnTo>
                  <a:pt x="63500" y="647700"/>
                </a:lnTo>
                <a:arcTo hR="63500" wR="63500" stAng="5400000" swAng="5400000"/>
                <a:lnTo>
                  <a:pt x="0" y="63500"/>
                </a:lnTo>
                <a:arcTo hR="63500" wR="63500" stAng="10800000" swAng="5400000"/>
                <a:lnTo>
                  <a:pt x="63500" y="0"/>
                </a:lnTo>
                <a:arcTo hR="63500" wR="25400" stAng="16200000" swAng="-5400000"/>
                <a:lnTo>
                  <a:pt x="38100" y="584200"/>
                </a:lnTo>
                <a:arcTo hR="63500" wR="25400" stAng="10800000" swAng="-5400000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25" name="Text 22"/>
          <p:cNvSpPr/>
          <p:nvPr/>
        </p:nvSpPr>
        <p:spPr>
          <a:xfrm>
            <a:off x="1203960" y="3896364"/>
            <a:ext cx="8763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DETECCIÓN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162810" y="3868421"/>
            <a:ext cx="891540" cy="246380"/>
          </a:xfrm>
          <a:prstGeom prst="roundRect">
            <a:avLst>
              <a:gd name="adj" fmla="val 18041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242820" y="3884931"/>
            <a:ext cx="782320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33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Remedios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111500" y="3876042"/>
            <a:ext cx="2159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3333750" y="3868421"/>
            <a:ext cx="708660" cy="246380"/>
          </a:xfrm>
          <a:prstGeom prst="roundRect">
            <a:avLst>
              <a:gd name="adj" fmla="val 18041"/>
            </a:avLst>
          </a:prstGeom>
          <a:solidFill>
            <a:srgbClr val="FFF7F2"/>
          </a:solidFill>
          <a:ln w="12700">
            <a:solidFill>
              <a:srgbClr val="F8793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413760" y="3884931"/>
            <a:ext cx="599440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63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remedi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099560" y="3876042"/>
            <a:ext cx="2159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321810" y="3868421"/>
            <a:ext cx="800100" cy="246380"/>
          </a:xfrm>
          <a:prstGeom prst="roundRect">
            <a:avLst>
              <a:gd name="adj" fmla="val 18041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401820" y="3884931"/>
            <a:ext cx="690880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334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remedio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156460" y="4159250"/>
            <a:ext cx="479026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Misma raíz · nivel novela · carácter 4383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1041400" y="4497071"/>
            <a:ext cx="5892800" cy="548640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/>
        </p:spPr>
      </p:sp>
      <p:sp>
        <p:nvSpPr>
          <p:cNvPr id="36" name="Shape 33"/>
          <p:cNvSpPr/>
          <p:nvPr/>
        </p:nvSpPr>
        <p:spPr>
          <a:xfrm>
            <a:off x="1041400" y="4497071"/>
            <a:ext cx="5892800" cy="548640"/>
          </a:xfrm>
          <a:custGeom>
            <a:avLst/>
            <a:gdLst/>
            <a:ahLst/>
            <a:cxnLst/>
            <a:rect l="l" t="t" r="r" b="b"/>
            <a:pathLst>
              <a:path w="5892800" h="548640">
                <a:moveTo>
                  <a:pt x="63500" y="548640"/>
                </a:moveTo>
                <a:lnTo>
                  <a:pt x="63500" y="548640"/>
                </a:lnTo>
                <a:arcTo hR="63500" wR="63500" stAng="5400000" swAng="5400000"/>
                <a:lnTo>
                  <a:pt x="0" y="63500"/>
                </a:lnTo>
                <a:arcTo hR="63500" wR="63500" stAng="10800000" swAng="5400000"/>
                <a:lnTo>
                  <a:pt x="63500" y="0"/>
                </a:lnTo>
                <a:arcTo hR="63500" wR="25400" stAng="16200000" swAng="-5400000"/>
                <a:lnTo>
                  <a:pt x="38100" y="485140"/>
                </a:lnTo>
                <a:arcTo hR="63500" wR="25400" stAng="10800000" swAng="-5400000"/>
                <a:close/>
              </a:path>
            </a:pathLst>
          </a:custGeom>
          <a:solidFill>
            <a:srgbClr val="1E2D3D"/>
          </a:solidFill>
          <a:ln/>
        </p:spPr>
      </p:sp>
      <p:sp>
        <p:nvSpPr>
          <p:cNvPr id="37" name="Text 34"/>
          <p:cNvSpPr/>
          <p:nvPr/>
        </p:nvSpPr>
        <p:spPr>
          <a:xfrm>
            <a:off x="1203960" y="4664714"/>
            <a:ext cx="876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DECISIÓN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156460" y="4573271"/>
            <a:ext cx="4790262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Devolver al redactor</a:t>
            </a:r>
            <a:r>
              <a:rPr lang="en-US" sz="12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(1.ª pasada; a la 2.ª seguida, detener) → aceptado en el intento 2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041400" y="5109214"/>
            <a:ext cx="606958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Falso positivo por raíz compartida entre un nombre y un sustantivo: anotado para calibrar el guardrail.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7366000" y="1747521"/>
            <a:ext cx="4013200" cy="1082040"/>
          </a:xfrm>
          <a:prstGeom prst="roundRect">
            <a:avLst>
              <a:gd name="adj" fmla="val 9390"/>
            </a:avLst>
          </a:prstGeom>
          <a:solidFill>
            <a:srgbClr val="F5F5F5"/>
          </a:solidFill>
          <a:ln/>
        </p:spPr>
      </p:sp>
      <p:sp>
        <p:nvSpPr>
          <p:cNvPr id="41" name="Text 38"/>
          <p:cNvSpPr/>
          <p:nvPr/>
        </p:nvSpPr>
        <p:spPr>
          <a:xfrm>
            <a:off x="7569200" y="1925321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Datos personales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7569200" y="2189479"/>
            <a:ext cx="37150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Datos ficticios en pruebas y un identificador opaco del comprador.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7366000" y="2956564"/>
            <a:ext cx="4013200" cy="1473200"/>
          </a:xfrm>
          <a:prstGeom prst="roundRect">
            <a:avLst>
              <a:gd name="adj" fmla="val 6897"/>
            </a:avLst>
          </a:prstGeom>
          <a:solidFill>
            <a:srgbClr val="1E2D3D"/>
          </a:solidFill>
          <a:ln/>
        </p:spPr>
      </p:sp>
      <p:sp>
        <p:nvSpPr>
          <p:cNvPr id="44" name="Text 41"/>
          <p:cNvSpPr/>
          <p:nvPr/>
        </p:nvSpPr>
        <p:spPr>
          <a:xfrm>
            <a:off x="7569200" y="3373121"/>
            <a:ext cx="1403271" cy="665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F793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 / 40</a:t>
            </a:r>
            <a:endParaRPr lang="en-US" sz="3600" dirty="0"/>
          </a:p>
        </p:txBody>
      </p:sp>
      <p:sp>
        <p:nvSpPr>
          <p:cNvPr id="45" name="Text 42"/>
          <p:cNvSpPr/>
          <p:nvPr/>
        </p:nvSpPr>
        <p:spPr>
          <a:xfrm>
            <a:off x="9099471" y="3134364"/>
            <a:ext cx="21388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Prompt injection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9099471" y="3398521"/>
            <a:ext cx="2138825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A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texto libre es no confiable: ninguna de las 40 peticiones adversariales llevó la instrucción inyectada.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7366000" y="4556764"/>
            <a:ext cx="4013200" cy="1082040"/>
          </a:xfrm>
          <a:prstGeom prst="roundRect">
            <a:avLst>
              <a:gd name="adj" fmla="val 9390"/>
            </a:avLst>
          </a:prstGeom>
          <a:solidFill>
            <a:srgbClr val="F5F5F5"/>
          </a:solidFill>
          <a:ln/>
        </p:spPr>
      </p:sp>
      <p:sp>
        <p:nvSpPr>
          <p:cNvPr id="48" name="Text 45"/>
          <p:cNvSpPr/>
          <p:nvPr/>
        </p:nvSpPr>
        <p:spPr>
          <a:xfrm>
            <a:off x="7569200" y="4734564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Audit log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7569200" y="4998721"/>
            <a:ext cx="37150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decisión del policy engine queda registrada.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7493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238242"/>
            <a:ext cx="30880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Qaracter group, all rights reserved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35769" y="6238242"/>
            <a:ext cx="1942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812800"/>
            <a:ext cx="10883392" cy="236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· PROPUESTA ECONÓMICA</a:t>
            </a:r>
            <a:endParaRPr lang="en-US" sz="1196" dirty="0"/>
          </a:p>
        </p:txBody>
      </p:sp>
      <p:sp>
        <p:nvSpPr>
          <p:cNvPr id="6" name="Text 3"/>
          <p:cNvSpPr/>
          <p:nvPr/>
        </p:nvSpPr>
        <p:spPr>
          <a:xfrm>
            <a:off x="812800" y="1100379"/>
            <a:ext cx="9679940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0"/>
              </a:lnSpc>
              <a:buNone/>
            </a:pPr>
            <a:r>
              <a:rPr lang="en-US" sz="2791" b="1" spc="-50" kern="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Coste unitario y margen por novela</a:t>
            </a:r>
            <a:endParaRPr lang="en-US" sz="2791" dirty="0"/>
          </a:p>
        </p:txBody>
      </p:sp>
      <p:sp>
        <p:nvSpPr>
          <p:cNvPr id="7" name="Text 4"/>
          <p:cNvSpPr/>
          <p:nvPr/>
        </p:nvSpPr>
        <p:spPr>
          <a:xfrm>
            <a:off x="812800" y="1665684"/>
            <a:ext cx="10883392" cy="233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50" kern="0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PRECIO DE VENTA 69 USD = 100 % · CON 500 NOVELAS AL MES</a:t>
            </a:r>
            <a:endParaRPr lang="en-US" sz="1196" dirty="0"/>
          </a:p>
        </p:txBody>
      </p:sp>
      <p:sp>
        <p:nvSpPr>
          <p:cNvPr id="8" name="Shape 5"/>
          <p:cNvSpPr/>
          <p:nvPr/>
        </p:nvSpPr>
        <p:spPr>
          <a:xfrm>
            <a:off x="812800" y="1936911"/>
            <a:ext cx="1651000" cy="406400"/>
          </a:xfrm>
          <a:custGeom>
            <a:avLst/>
            <a:gdLst/>
            <a:ahLst/>
            <a:cxnLst/>
            <a:rect l="l" t="t" r="r" b="b"/>
            <a:pathLst>
              <a:path w="1651000" h="406400">
                <a:moveTo>
                  <a:pt x="0" y="63500"/>
                </a:moveTo>
                <a:arcTo hR="63500" wR="63500" stAng="10800000" swAng="5400000"/>
                <a:lnTo>
                  <a:pt x="1651000" y="0"/>
                </a:lnTo>
                <a:lnTo>
                  <a:pt x="1651000" y="406400"/>
                </a:lnTo>
                <a:lnTo>
                  <a:pt x="63500" y="406400"/>
                </a:lnTo>
                <a:arcTo hR="63500" wR="63500" stAng="5400000" swAng="5400000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033432"/>
            <a:ext cx="1498600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Tokens 15,7 %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463800" y="1936911"/>
            <a:ext cx="38100" cy="406400"/>
          </a:xfrm>
          <a:prstGeom prst="rect">
            <a:avLst/>
          </a:prstGeom>
          <a:solidFill>
            <a:srgbClr val="FBAA80"/>
          </a:solidFill>
          <a:ln/>
        </p:spPr>
      </p:sp>
      <p:sp>
        <p:nvSpPr>
          <p:cNvPr id="11" name="Shape 8"/>
          <p:cNvSpPr/>
          <p:nvPr/>
        </p:nvSpPr>
        <p:spPr>
          <a:xfrm>
            <a:off x="2501900" y="1936911"/>
            <a:ext cx="1168400" cy="406400"/>
          </a:xfrm>
          <a:prstGeom prst="rect">
            <a:avLst/>
          </a:prstGeom>
          <a:solidFill>
            <a:srgbClr val="4A5763"/>
          </a:solidFill>
          <a:ln/>
        </p:spPr>
      </p:sp>
      <p:sp>
        <p:nvSpPr>
          <p:cNvPr id="12" name="Text 9"/>
          <p:cNvSpPr/>
          <p:nvPr/>
        </p:nvSpPr>
        <p:spPr>
          <a:xfrm>
            <a:off x="2603500" y="2033432"/>
            <a:ext cx="1016000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Op. 11,1 %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70300" y="1936911"/>
            <a:ext cx="7708900" cy="406400"/>
          </a:xfrm>
          <a:custGeom>
            <a:avLst/>
            <a:gdLst/>
            <a:ahLst/>
            <a:cxnLst/>
            <a:rect l="l" t="t" r="r" b="b"/>
            <a:pathLst>
              <a:path w="7708900" h="406400">
                <a:moveTo>
                  <a:pt x="7645400" y="0"/>
                </a:moveTo>
                <a:arcTo hR="63500" wR="63500" stAng="16200000" swAng="5400000"/>
                <a:lnTo>
                  <a:pt x="7708900" y="342900"/>
                </a:lnTo>
                <a:arcTo hR="63500" wR="63500" stAng="0" swAng="5400000"/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1E2D3D"/>
          </a:solidFill>
          <a:ln/>
        </p:spPr>
      </p:sp>
      <p:sp>
        <p:nvSpPr>
          <p:cNvPr id="14" name="Text 11"/>
          <p:cNvSpPr/>
          <p:nvPr/>
        </p:nvSpPr>
        <p:spPr>
          <a:xfrm>
            <a:off x="3822700" y="2033432"/>
            <a:ext cx="7626223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Margen bruto 73,0 %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2800" y="2521111"/>
            <a:ext cx="10566400" cy="362744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6" name="Text 13"/>
          <p:cNvSpPr/>
          <p:nvPr/>
        </p:nvSpPr>
        <p:spPr>
          <a:xfrm>
            <a:off x="965200" y="2597311"/>
            <a:ext cx="664514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5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CONCEPTO</a:t>
            </a:r>
            <a:endParaRPr lang="en-US" sz="1196" dirty="0"/>
          </a:p>
        </p:txBody>
      </p:sp>
      <p:sp>
        <p:nvSpPr>
          <p:cNvPr id="17" name="Text 14"/>
          <p:cNvSpPr/>
          <p:nvPr/>
        </p:nvSpPr>
        <p:spPr>
          <a:xfrm>
            <a:off x="7670800" y="2597311"/>
            <a:ext cx="165100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75"/>
              </a:lnSpc>
              <a:buNone/>
            </a:pPr>
            <a:r>
              <a:rPr lang="en-US" sz="1196" b="1" spc="5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USD POR NOVELA</a:t>
            </a:r>
            <a:endParaRPr lang="en-US" sz="1196" dirty="0"/>
          </a:p>
        </p:txBody>
      </p:sp>
      <p:sp>
        <p:nvSpPr>
          <p:cNvPr id="18" name="Text 15"/>
          <p:cNvSpPr/>
          <p:nvPr/>
        </p:nvSpPr>
        <p:spPr>
          <a:xfrm>
            <a:off x="9575800" y="2597311"/>
            <a:ext cx="165100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75"/>
              </a:lnSpc>
              <a:buNone/>
            </a:pPr>
            <a:r>
              <a:rPr lang="en-US" sz="1196" b="1" spc="5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% DEL PRECIO</a:t>
            </a:r>
            <a:endParaRPr lang="en-US" sz="1196" dirty="0"/>
          </a:p>
        </p:txBody>
      </p:sp>
      <p:sp>
        <p:nvSpPr>
          <p:cNvPr id="19" name="Shape 16"/>
          <p:cNvSpPr/>
          <p:nvPr/>
        </p:nvSpPr>
        <p:spPr>
          <a:xfrm>
            <a:off x="812800" y="2883855"/>
            <a:ext cx="10566400" cy="377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812800" y="3258505"/>
            <a:ext cx="10566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5200" y="2945767"/>
            <a:ext cx="655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Tokens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671955" y="2971167"/>
            <a:ext cx="292376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medido en Langfuse + revisiones y fallos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670800" y="2945767"/>
            <a:ext cx="165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10,80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575800" y="2945767"/>
            <a:ext cx="165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15,7 %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12800" y="3261680"/>
            <a:ext cx="10566400" cy="377904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26" name="Shape 23"/>
          <p:cNvSpPr/>
          <p:nvPr/>
        </p:nvSpPr>
        <p:spPr>
          <a:xfrm>
            <a:off x="812800" y="3636409"/>
            <a:ext cx="10566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5200" y="3323673"/>
            <a:ext cx="6645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Infraestructura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670800" y="3323673"/>
            <a:ext cx="165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0,20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575800" y="3323673"/>
            <a:ext cx="165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0,3 %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12800" y="3639586"/>
            <a:ext cx="10566400" cy="377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812800" y="4014236"/>
            <a:ext cx="10566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5200" y="3701498"/>
            <a:ext cx="9651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Operación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981121" y="3726898"/>
            <a:ext cx="400237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calidad por muestreo 2,50 · soporte 3,33 · pasarela 1,80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670800" y="3701498"/>
            <a:ext cx="165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7,63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9575800" y="3701498"/>
            <a:ext cx="165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11,1 %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812800" y="4017411"/>
            <a:ext cx="10566400" cy="377904"/>
          </a:xfrm>
          <a:prstGeom prst="rect">
            <a:avLst/>
          </a:prstGeom>
          <a:solidFill>
            <a:srgbClr val="F3F2EF"/>
          </a:solidFill>
          <a:ln/>
        </p:spPr>
      </p:sp>
      <p:sp>
        <p:nvSpPr>
          <p:cNvPr id="37" name="Shape 34"/>
          <p:cNvSpPr/>
          <p:nvPr/>
        </p:nvSpPr>
        <p:spPr>
          <a:xfrm>
            <a:off x="812800" y="4392140"/>
            <a:ext cx="10566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65200" y="4079398"/>
            <a:ext cx="6645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Coste unitario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670800" y="4079398"/>
            <a:ext cx="165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18,63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9575800" y="4079398"/>
            <a:ext cx="165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27,0 %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812800" y="4395310"/>
            <a:ext cx="10566400" cy="377825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42" name="Shape 39"/>
          <p:cNvSpPr/>
          <p:nvPr/>
        </p:nvSpPr>
        <p:spPr>
          <a:xfrm>
            <a:off x="812800" y="4769960"/>
            <a:ext cx="10566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65200" y="4457223"/>
            <a:ext cx="6645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Margen bruto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7670800" y="4457223"/>
            <a:ext cx="165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50,37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9575800" y="4457223"/>
            <a:ext cx="165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73,0 %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812800" y="4773135"/>
            <a:ext cx="10566400" cy="372745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47" name="Text 44"/>
          <p:cNvSpPr/>
          <p:nvPr/>
        </p:nvSpPr>
        <p:spPr>
          <a:xfrm>
            <a:off x="965200" y="4835048"/>
            <a:ext cx="6645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Precio de venta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7670800" y="4835048"/>
            <a:ext cx="165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69,00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9575800" y="4835048"/>
            <a:ext cx="165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100 %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831850" y="5323681"/>
            <a:ext cx="0" cy="518319"/>
          </a:xfrm>
          <a:prstGeom prst="line">
            <a:avLst/>
          </a:prstGeom>
          <a:noFill/>
          <a:ln w="38100">
            <a:solidFill>
              <a:srgbClr val="FF7932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26160" y="5476162"/>
            <a:ext cx="1649651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POSICIONAMIENTO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2802811" y="5359958"/>
            <a:ext cx="8833681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C46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 los libros personalizados de plantilla (28–50 USD) y el encargo a un escritor (295–450 USD y semanas de espera).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7493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238242"/>
            <a:ext cx="30880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Qaracter group, all rights reserved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31800" y="6238242"/>
            <a:ext cx="1981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· PROPUESTA ECONÓMICA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1102364"/>
            <a:ext cx="96799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spc="-50" kern="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Proyecto de desarrollo por fases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12800" y="1671321"/>
            <a:ext cx="10566400" cy="3657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8" name="Text 5"/>
          <p:cNvSpPr/>
          <p:nvPr/>
        </p:nvSpPr>
        <p:spPr>
          <a:xfrm>
            <a:off x="965200" y="1747521"/>
            <a:ext cx="57948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70700" y="1747521"/>
            <a:ext cx="698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HORAS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48600" y="1747521"/>
            <a:ext cx="1844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PERFIL Y TARIFA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893300" y="1747521"/>
            <a:ext cx="1333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2800" y="2037079"/>
            <a:ext cx="10566400" cy="5816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812800" y="2615564"/>
            <a:ext cx="10566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5200" y="2100579"/>
            <a:ext cx="579488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· Diseño y especificación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65200" y="2344421"/>
            <a:ext cx="5794883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Ontología, arquitectura del harness, spec y contrato OpenAPI.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70700" y="2200914"/>
            <a:ext cx="698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80 h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848600" y="2112014"/>
            <a:ext cx="1844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Senior · 117 USD/h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848600" y="2325371"/>
            <a:ext cx="1844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(100 €)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893300" y="2200914"/>
            <a:ext cx="1333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9.360 USD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12800" y="2618742"/>
            <a:ext cx="10566400" cy="58166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21" name="Shape 18"/>
          <p:cNvSpPr/>
          <p:nvPr/>
        </p:nvSpPr>
        <p:spPr>
          <a:xfrm>
            <a:off x="812800" y="3197227"/>
            <a:ext cx="10566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5200" y="2682242"/>
            <a:ext cx="579488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· Desarrollo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65200" y="2926079"/>
            <a:ext cx="5794883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Harness, roles, story bible, guardrails, API, frontend, PDF y observabilidad.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870700" y="2782571"/>
            <a:ext cx="698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240 h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848600" y="2693671"/>
            <a:ext cx="1844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Mid · 82 USD/h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848600" y="2907029"/>
            <a:ext cx="1844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(70 €)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893300" y="2782571"/>
            <a:ext cx="1333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19.680 USD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12800" y="3200400"/>
            <a:ext cx="10566400" cy="5816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812800" y="3778885"/>
            <a:ext cx="10566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65200" y="3263900"/>
            <a:ext cx="579488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· Validación y evaluación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965200" y="3507742"/>
            <a:ext cx="5794883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Validadores, Lean y TLA+, evals, red-team, revisión humana y tuning.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870700" y="3364229"/>
            <a:ext cx="698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120 h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848600" y="3275329"/>
            <a:ext cx="1844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Senior · 117 USD/h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848600" y="3488692"/>
            <a:ext cx="1844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(100 €)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9893300" y="3364229"/>
            <a:ext cx="1333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14.040 USD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812800" y="3782064"/>
            <a:ext cx="10566400" cy="58166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37" name="Shape 34"/>
          <p:cNvSpPr/>
          <p:nvPr/>
        </p:nvSpPr>
        <p:spPr>
          <a:xfrm>
            <a:off x="812800" y="4360549"/>
            <a:ext cx="105664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65200" y="3845564"/>
            <a:ext cx="579488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· Despliegue y puesta en marcha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965200" y="4089400"/>
            <a:ext cx="5794883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Infraestructura, CI/CD, seguridad, documentación y formación.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870700" y="3945892"/>
            <a:ext cx="698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 h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7848600" y="3856992"/>
            <a:ext cx="1844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Mid · 82 USD/h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7848600" y="4070350"/>
            <a:ext cx="1844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(70 €)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9893300" y="3945892"/>
            <a:ext cx="1333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4.920 USD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812800" y="4363721"/>
            <a:ext cx="10566400" cy="401320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45" name="Text 42"/>
          <p:cNvSpPr/>
          <p:nvPr/>
        </p:nvSpPr>
        <p:spPr>
          <a:xfrm>
            <a:off x="965200" y="4439921"/>
            <a:ext cx="5794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del proyecto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6870700" y="4439921"/>
            <a:ext cx="698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500 h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7848600" y="4439921"/>
            <a:ext cx="18444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9893300" y="4439921"/>
            <a:ext cx="1333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48.000 USD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812800" y="4942842"/>
            <a:ext cx="10883392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i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Tarifas de mercado español para perfiles de IA (mid 60–100 €/h, senior 90–150 €/h). Mantenimiento anual estimado: 4.800–12.000 USD. Con 500 novelas/mes, el proyecto se recupera en 1,9 meses. Importes sin IVA.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7493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238242"/>
            <a:ext cx="30880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Qaracter group, all rights reserved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24657" y="6238242"/>
            <a:ext cx="2053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· PROPUESTA ECONÓMICA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1102364"/>
            <a:ext cx="96799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spc="-50" kern="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Margen por volumen y sensibilidad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12800" y="1671321"/>
            <a:ext cx="65666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MARGEN MENSUAL · TRES VOLÚMENES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12800" y="2011679"/>
            <a:ext cx="6375400" cy="3439160"/>
          </a:xfrm>
          <a:prstGeom prst="roundRect">
            <a:avLst>
              <a:gd name="adj" fmla="val 2585"/>
            </a:avLst>
          </a:prstGeom>
          <a:solidFill>
            <a:srgbClr val="F5F5F5"/>
          </a:solidFill>
          <a:ln/>
        </p:spPr>
      </p:sp>
      <p:sp>
        <p:nvSpPr>
          <p:cNvPr id="9" name="Shape 6"/>
          <p:cNvSpPr/>
          <p:nvPr/>
        </p:nvSpPr>
        <p:spPr>
          <a:xfrm>
            <a:off x="1066800" y="3862069"/>
            <a:ext cx="5867400" cy="0"/>
          </a:xfrm>
          <a:prstGeom prst="line">
            <a:avLst/>
          </a:prstGeom>
          <a:noFill/>
          <a:ln w="12700">
            <a:solidFill>
              <a:srgbClr val="C9D2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34912" y="3495042"/>
            <a:ext cx="87677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4.971 USD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803400" y="3807464"/>
            <a:ext cx="889000" cy="50800"/>
          </a:xfrm>
          <a:custGeom>
            <a:avLst/>
            <a:gdLst/>
            <a:ahLst/>
            <a:cxnLst/>
            <a:rect l="l" t="t" r="r" b="b"/>
            <a:pathLst>
              <a:path w="889000" h="50800">
                <a:moveTo>
                  <a:pt x="38100" y="0"/>
                </a:moveTo>
                <a:lnTo>
                  <a:pt x="850900" y="0"/>
                </a:lnTo>
                <a:arcTo hR="38100" wR="38100" stAng="16200000" swAng="5400000"/>
                <a:lnTo>
                  <a:pt x="889000" y="50800"/>
                </a:lnTo>
                <a:lnTo>
                  <a:pt x="0" y="508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12" name="Text 9"/>
          <p:cNvSpPr/>
          <p:nvPr/>
        </p:nvSpPr>
        <p:spPr>
          <a:xfrm>
            <a:off x="3540919" y="3279142"/>
            <a:ext cx="96996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25.187 USD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556000" y="3591564"/>
            <a:ext cx="889000" cy="266700"/>
          </a:xfrm>
          <a:custGeom>
            <a:avLst/>
            <a:gdLst/>
            <a:ahLst/>
            <a:cxnLst/>
            <a:rect l="l" t="t" r="r" b="b"/>
            <a:pathLst>
              <a:path w="889000" h="266700">
                <a:moveTo>
                  <a:pt x="38100" y="0"/>
                </a:moveTo>
                <a:lnTo>
                  <a:pt x="850900" y="0"/>
                </a:lnTo>
                <a:arcTo hR="38100" wR="38100" stAng="16200000" swAng="5400000"/>
                <a:lnTo>
                  <a:pt x="889000" y="266700"/>
                </a:lnTo>
                <a:lnTo>
                  <a:pt x="0" y="2667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14" name="Text 11"/>
          <p:cNvSpPr/>
          <p:nvPr/>
        </p:nvSpPr>
        <p:spPr>
          <a:xfrm>
            <a:off x="5209064" y="2466342"/>
            <a:ext cx="113879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100.930 USD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308600" y="2778764"/>
            <a:ext cx="889000" cy="1079500"/>
          </a:xfrm>
          <a:custGeom>
            <a:avLst/>
            <a:gdLst/>
            <a:ahLst/>
            <a:cxnLst/>
            <a:rect l="l" t="t" r="r" b="b"/>
            <a:pathLst>
              <a:path w="889000" h="1079500">
                <a:moveTo>
                  <a:pt x="38100" y="0"/>
                </a:moveTo>
                <a:lnTo>
                  <a:pt x="850900" y="0"/>
                </a:lnTo>
                <a:arcTo hR="38100" wR="38100" stAng="16200000" swAng="5400000"/>
                <a:lnTo>
                  <a:pt x="889000" y="1079500"/>
                </a:lnTo>
                <a:lnTo>
                  <a:pt x="0" y="10795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16" name="Text 13"/>
          <p:cNvSpPr/>
          <p:nvPr/>
        </p:nvSpPr>
        <p:spPr>
          <a:xfrm>
            <a:off x="1524000" y="3957321"/>
            <a:ext cx="1447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</a:t>
            </a:r>
            <a:r>
              <a:rPr lang="en-US" sz="12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novelas/mes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276600" y="3957321"/>
            <a:ext cx="1447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500</a:t>
            </a:r>
            <a:r>
              <a:rPr lang="en-US" sz="12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novelas/mes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0" y="3957321"/>
            <a:ext cx="1447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2.000</a:t>
            </a:r>
            <a:r>
              <a:rPr lang="en-US" sz="12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novelas/mes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66800" y="4259579"/>
            <a:ext cx="6043422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i="1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Margen mensual = novelas × 50,57 USD − infraestructura fija (86, 98 y 210 USD/mes). El margen por novela se mantiene entre el 72 % y el 73 %.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066800" y="4759964"/>
            <a:ext cx="5867400" cy="538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1085850" y="4759964"/>
            <a:ext cx="0" cy="538480"/>
          </a:xfrm>
          <a:prstGeom prst="line">
            <a:avLst/>
          </a:prstGeom>
          <a:noFill/>
          <a:ln w="38100">
            <a:solidFill>
              <a:srgbClr val="1E2D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29360" y="4823464"/>
            <a:ext cx="5745175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Peor caso combinado</a:t>
            </a:r>
            <a:r>
              <a:rPr lang="en-US" sz="1200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(tokens +50 % y 4 revisiones): </a:t>
            </a:r>
            <a:r>
              <a:rPr lang="en-US" sz="12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27,36 USD (40 %)</a:t>
            </a:r>
            <a:r>
              <a:rPr lang="en-US" sz="1200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El margen solo llegaría a cero con un coste de tokens 5,7 veces el actual.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42200" y="1671321"/>
            <a:ext cx="40551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SENSIBILIDAD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442200" y="2011679"/>
            <a:ext cx="3937000" cy="1656080"/>
          </a:xfrm>
          <a:prstGeom prst="roundRect">
            <a:avLst>
              <a:gd name="adj" fmla="val 6135"/>
            </a:avLst>
          </a:prstGeom>
          <a:solidFill>
            <a:srgbClr val="F5F5F5"/>
          </a:solidFill>
          <a:ln/>
        </p:spPr>
      </p:sp>
      <p:sp>
        <p:nvSpPr>
          <p:cNvPr id="25" name="Shape 22"/>
          <p:cNvSpPr/>
          <p:nvPr/>
        </p:nvSpPr>
        <p:spPr>
          <a:xfrm>
            <a:off x="7442200" y="2011679"/>
            <a:ext cx="3937000" cy="1656080"/>
          </a:xfrm>
          <a:custGeom>
            <a:avLst/>
            <a:gdLst/>
            <a:ahLst/>
            <a:cxnLst/>
            <a:rect l="l" t="t" r="r" b="b"/>
            <a:pathLst>
              <a:path w="3937000" h="16560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835400" y="0"/>
                </a:lnTo>
                <a:arcTo hR="101600" wR="101600" stAng="16200000" swAng="5400000"/>
                <a:lnTo>
                  <a:pt x="39370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26" name="Text 23"/>
          <p:cNvSpPr/>
          <p:nvPr/>
        </p:nvSpPr>
        <p:spPr>
          <a:xfrm>
            <a:off x="7645400" y="2199642"/>
            <a:ext cx="3636518" cy="244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2"/>
              </a:lnSpc>
              <a:buNone/>
            </a:pPr>
            <a:r>
              <a:rPr lang="en-US" sz="1435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Tokens +50 %</a:t>
            </a:r>
            <a:endParaRPr lang="en-US" sz="1435" dirty="0"/>
          </a:p>
        </p:txBody>
      </p:sp>
      <p:sp>
        <p:nvSpPr>
          <p:cNvPr id="27" name="Text 24"/>
          <p:cNvSpPr/>
          <p:nvPr/>
        </p:nvSpPr>
        <p:spPr>
          <a:xfrm>
            <a:off x="7645400" y="2482137"/>
            <a:ext cx="3636518" cy="440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2"/>
              </a:lnSpc>
              <a:buNone/>
            </a:pPr>
            <a:r>
              <a:rPr lang="en-US" sz="1166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Margen por novela: </a:t>
            </a:r>
            <a:r>
              <a:rPr lang="en-US" sz="1166" b="1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44,95 USD (65 %)</a:t>
            </a:r>
            <a:r>
              <a:rPr lang="en-US" sz="1166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frente a 50,37 USD (73 %).</a:t>
            </a:r>
            <a:endParaRPr lang="en-US" sz="1166" dirty="0"/>
          </a:p>
        </p:txBody>
      </p:sp>
      <p:sp>
        <p:nvSpPr>
          <p:cNvPr id="28" name="Text 25"/>
          <p:cNvSpPr/>
          <p:nvPr/>
        </p:nvSpPr>
        <p:spPr>
          <a:xfrm>
            <a:off x="7645400" y="2960929"/>
            <a:ext cx="3636518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108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Mitigación:</a:t>
            </a:r>
            <a:r>
              <a:rPr lang="en-US" sz="108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prompt caching de la capa invariante y enrutado de roles secundarios a un modelo más económico.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7442200" y="3794764"/>
            <a:ext cx="3937000" cy="1656080"/>
          </a:xfrm>
          <a:prstGeom prst="roundRect">
            <a:avLst>
              <a:gd name="adj" fmla="val 6135"/>
            </a:avLst>
          </a:prstGeom>
          <a:solidFill>
            <a:srgbClr val="F5F5F5"/>
          </a:solidFill>
          <a:ln/>
        </p:spPr>
      </p:sp>
      <p:sp>
        <p:nvSpPr>
          <p:cNvPr id="30" name="Shape 27"/>
          <p:cNvSpPr/>
          <p:nvPr/>
        </p:nvSpPr>
        <p:spPr>
          <a:xfrm>
            <a:off x="7442200" y="3794764"/>
            <a:ext cx="3937000" cy="1656080"/>
          </a:xfrm>
          <a:custGeom>
            <a:avLst/>
            <a:gdLst/>
            <a:ahLst/>
            <a:cxnLst/>
            <a:rect l="l" t="t" r="r" b="b"/>
            <a:pathLst>
              <a:path w="3937000" h="16560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835400" y="0"/>
                </a:lnTo>
                <a:arcTo hR="101600" wR="101600" stAng="16200000" swAng="5400000"/>
                <a:lnTo>
                  <a:pt x="39370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31" name="Text 28"/>
          <p:cNvSpPr/>
          <p:nvPr/>
        </p:nvSpPr>
        <p:spPr>
          <a:xfrm>
            <a:off x="7645400" y="3982721"/>
            <a:ext cx="363651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Más de 3 revisiones por novela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645400" y="4290064"/>
            <a:ext cx="363651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revisiones: </a:t>
            </a:r>
            <a:r>
              <a:rPr lang="en-US" sz="1300" b="1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38,63 USD (56 %)</a:t>
            </a:r>
            <a:r>
              <a:rPr lang="en-US" sz="13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6 revisiones: </a:t>
            </a:r>
            <a:r>
              <a:rPr lang="en-US" sz="1300" b="1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30,81 USD (45 %)</a:t>
            </a:r>
            <a:r>
              <a:rPr lang="en-US" sz="13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645400" y="4815842"/>
            <a:ext cx="3636518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Propuesta:</a:t>
            </a:r>
            <a:r>
              <a:rPr lang="en-US" sz="120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revisiones a partir de la 4.ª a 9 USD cada una.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12800" y="56286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Precio de venta: 69 USD. Coste de tokens medido en Langfuse. Supuestos detallados en el anexo de sensibilidad.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7493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238242"/>
            <a:ext cx="30880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Qaracter group, all rights reserved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29022" y="6238242"/>
            <a:ext cx="20097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 · DEMO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1102364"/>
            <a:ext cx="96799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spc="-50" kern="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usuario pide un cambio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12800" y="1671321"/>
            <a:ext cx="2562860" cy="709930"/>
          </a:xfrm>
          <a:prstGeom prst="roundRect">
            <a:avLst>
              <a:gd name="adj" fmla="val 14311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965200" y="1798321"/>
            <a:ext cx="15255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93959" y="1798321"/>
            <a:ext cx="2090180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lector pide el cambio desde la página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77260" y="1671321"/>
            <a:ext cx="2562860" cy="709930"/>
          </a:xfrm>
          <a:prstGeom prst="roundRect">
            <a:avLst>
              <a:gd name="adj" fmla="val 14311"/>
            </a:avLst>
          </a:prstGeom>
          <a:solidFill>
            <a:srgbClr val="F5F5F5"/>
          </a:solidFill>
          <a:ln/>
        </p:spPr>
      </p:sp>
      <p:sp>
        <p:nvSpPr>
          <p:cNvPr id="11" name="Text 8"/>
          <p:cNvSpPr/>
          <p:nvPr/>
        </p:nvSpPr>
        <p:spPr>
          <a:xfrm>
            <a:off x="3629660" y="1798321"/>
            <a:ext cx="21209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917950" y="1798321"/>
            <a:ext cx="202886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story bible versiona el hecho y su vigencia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41720" y="1671321"/>
            <a:ext cx="2562860" cy="709930"/>
          </a:xfrm>
          <a:prstGeom prst="roundRect">
            <a:avLst>
              <a:gd name="adj" fmla="val 14311"/>
            </a:avLst>
          </a:prstGeom>
          <a:solidFill>
            <a:srgbClr val="F5F5F5"/>
          </a:solidFill>
          <a:ln/>
        </p:spPr>
      </p:sp>
      <p:sp>
        <p:nvSpPr>
          <p:cNvPr id="14" name="Text 11"/>
          <p:cNvSpPr/>
          <p:nvPr/>
        </p:nvSpPr>
        <p:spPr>
          <a:xfrm>
            <a:off x="6294120" y="1798321"/>
            <a:ext cx="219313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89633" y="1798321"/>
            <a:ext cx="202142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Solo se reescriben los capítulos afectados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809355" y="1674496"/>
            <a:ext cx="2566670" cy="703580"/>
          </a:xfrm>
          <a:prstGeom prst="roundRect">
            <a:avLst>
              <a:gd name="adj" fmla="val 13989"/>
            </a:avLst>
          </a:prstGeom>
          <a:solidFill>
            <a:srgbClr val="FFF7F2"/>
          </a:solidFill>
          <a:ln w="6350">
            <a:solidFill>
              <a:srgbClr val="F8C9A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3660" y="1803400"/>
            <a:ext cx="23241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272270" y="1803400"/>
            <a:ext cx="200793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versión anterior se conserva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12800" y="2559050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15975" y="2851789"/>
            <a:ext cx="5175250" cy="2712720"/>
          </a:xfrm>
          <a:prstGeom prst="roundRect">
            <a:avLst>
              <a:gd name="adj" fmla="val 3160"/>
            </a:avLst>
          </a:prstGeom>
          <a:solidFill>
            <a:srgbClr val="F3F2EF"/>
          </a:solidFill>
          <a:ln w="6350">
            <a:solidFill>
              <a:srgbClr val="E6EAEE"/>
            </a:solidFill>
            <a:prstDash val="solid"/>
          </a:ln>
        </p:spPr>
      </p:sp>
      <p:pic>
        <p:nvPicPr>
          <p:cNvPr id="21" name="Image 1" descr="Índice de la novela antes del cambio: el capítulo VII se titula «Lo que Tomás nunca hizo»">    </p:cNvPr>
          <p:cNvPicPr>
            <a:picLocks noChangeAspect="1"/>
          </p:cNvPicPr>
          <p:nvPr/>
        </p:nvPicPr>
        <p:blipFill>
          <a:blip r:embed="rId2"/>
          <a:srcRect l="-33435" r="-33435" t="0" b="0"/>
          <a:stretch/>
        </p:blipFill>
        <p:spPr>
          <a:xfrm>
            <a:off x="927100" y="2917192"/>
            <a:ext cx="4953000" cy="258191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12800" y="5643879"/>
            <a:ext cx="5337048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Capítulo VII: «Lo que Tomás nunca hizo»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197600" y="2559050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DESPUÉS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203950" y="2854964"/>
            <a:ext cx="5168900" cy="2508250"/>
          </a:xfrm>
          <a:prstGeom prst="roundRect">
            <a:avLst>
              <a:gd name="adj" fmla="val 3291"/>
            </a:avLst>
          </a:prstGeom>
          <a:solidFill>
            <a:srgbClr val="F3F2EF"/>
          </a:solidFill>
          <a:ln w="12700">
            <a:solidFill>
              <a:srgbClr val="F8C9AE"/>
            </a:solidFill>
            <a:prstDash val="solid"/>
          </a:ln>
        </p:spPr>
      </p:sp>
      <p:pic>
        <p:nvPicPr>
          <p:cNvPr id="25" name="Image 2" descr="Índice de la versión nueva: el capítulo VII pasa a «Lo que Tomás dejó en tierra», marcado como modificado en esta versión">    </p:cNvPr>
          <p:cNvPicPr>
            <a:picLocks noChangeAspect="1"/>
          </p:cNvPicPr>
          <p:nvPr/>
        </p:nvPicPr>
        <p:blipFill>
          <a:blip r:embed="rId3"/>
          <a:srcRect l="-36886" r="-36886" t="0" b="0"/>
          <a:stretch/>
        </p:blipFill>
        <p:spPr>
          <a:xfrm>
            <a:off x="6311900" y="2922271"/>
            <a:ext cx="4953000" cy="237363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197600" y="5445764"/>
            <a:ext cx="5337048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Solo cambia el VII, «Lo que Tomás dejó en tierra», marcado como </a:t>
            </a:r>
            <a:r>
              <a:rPr lang="en-US" sz="1200" b="1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modificado en esta versión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7493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238242"/>
            <a:ext cx="30880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Qaracter group, all rights reserved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27038" y="6238242"/>
            <a:ext cx="2029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 · RIESGOS Y SIGUIENTES PASOS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1102364"/>
            <a:ext cx="96799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spc="-50" kern="0" dirty="0">
                <a:solidFill>
                  <a:srgbClr val="2334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puede fallar y cómo seguimos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12800" y="1645927"/>
            <a:ext cx="60172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RIESGOS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54800" y="1645927"/>
            <a:ext cx="45521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SIGUIENTES PASOS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2800" y="1862460"/>
            <a:ext cx="58420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2800" y="1995326"/>
            <a:ext cx="601726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Dependencia del proveedor del modelo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12800" y="2268376"/>
            <a:ext cx="601726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Mitigación: el modelo está detrás de una interfaz con dos implementaciones (API y Claude Code); cambiar de proveedor es configuración, y un tope de coste por novela protege el margen.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54800" y="1859285"/>
            <a:ext cx="4419600" cy="1134507"/>
          </a:xfrm>
          <a:prstGeom prst="roundRect">
            <a:avLst>
              <a:gd name="adj" fmla="val 8955"/>
            </a:avLst>
          </a:prstGeom>
          <a:solidFill>
            <a:srgbClr val="F5F5F5"/>
          </a:solidFill>
          <a:ln/>
        </p:spPr>
      </p:sp>
      <p:sp>
        <p:nvSpPr>
          <p:cNvPr id="13" name="Text 10"/>
          <p:cNvSpPr/>
          <p:nvPr/>
        </p:nvSpPr>
        <p:spPr>
          <a:xfrm>
            <a:off x="6832600" y="2230921"/>
            <a:ext cx="15255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061359" y="1988344"/>
            <a:ext cx="395029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SEMANAS 1–2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061359" y="2211871"/>
            <a:ext cx="395029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Puesta en producción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61359" y="2468401"/>
            <a:ext cx="3950299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Infraestructura, API con acuerdo de la organización, seguridad y monitorización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12800" y="2996964"/>
            <a:ext cx="58420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2800" y="3129843"/>
            <a:ext cx="601726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Políticas de privacidad que alteran la salida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12800" y="3402893"/>
            <a:ext cx="601726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Mitigación: los validadores nombres_exactos e invencion_destinatario detectan nombres sustituidos o datos inventados y devuelven el capítulo antes de publicarlo.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654800" y="2993789"/>
            <a:ext cx="4419600" cy="1134507"/>
          </a:xfrm>
          <a:prstGeom prst="roundRect">
            <a:avLst>
              <a:gd name="adj" fmla="val 8955"/>
            </a:avLst>
          </a:prstGeom>
          <a:solidFill>
            <a:srgbClr val="F5F5F5"/>
          </a:solidFill>
          <a:ln/>
        </p:spPr>
      </p:sp>
      <p:sp>
        <p:nvSpPr>
          <p:cNvPr id="21" name="Text 18"/>
          <p:cNvSpPr/>
          <p:nvPr/>
        </p:nvSpPr>
        <p:spPr>
          <a:xfrm>
            <a:off x="6832600" y="3365426"/>
            <a:ext cx="21209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46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120890" y="3122848"/>
            <a:ext cx="388898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SEMANAS 3–6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120890" y="3346376"/>
            <a:ext cx="388898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Piloto con [NOMBRE_CLIENTE]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120890" y="3602918"/>
            <a:ext cx="3888982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 novelas reales, revisión de calidad y ajuste de prompts con sus datos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12800" y="4131469"/>
            <a:ext cx="58420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12800" y="5259626"/>
            <a:ext cx="5842000" cy="0"/>
          </a:xfrm>
          <a:prstGeom prst="line">
            <a:avLst/>
          </a:prstGeom>
          <a:noFill/>
          <a:ln w="6350">
            <a:solidFill>
              <a:srgbClr val="E6EA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2800" y="4360863"/>
            <a:ext cx="601726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Calidad percibida con clientes reales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12800" y="4633913"/>
            <a:ext cx="601726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Mitigación: umbrales calibrados en la evaluación y recalibrados con datos de producción, más control de calidad humano en una de cada cuatro novelas.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654800" y="4128294"/>
            <a:ext cx="4419600" cy="1134507"/>
          </a:xfrm>
          <a:prstGeom prst="roundRect">
            <a:avLst>
              <a:gd name="adj" fmla="val 8955"/>
            </a:avLst>
          </a:prstGeom>
          <a:solidFill>
            <a:srgbClr val="FF7932"/>
          </a:solidFill>
          <a:ln/>
        </p:spPr>
      </p:sp>
      <p:sp>
        <p:nvSpPr>
          <p:cNvPr id="30" name="Text 27"/>
          <p:cNvSpPr/>
          <p:nvPr/>
        </p:nvSpPr>
        <p:spPr>
          <a:xfrm>
            <a:off x="6832600" y="4499930"/>
            <a:ext cx="219313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7128113" y="4257365"/>
            <a:ext cx="388154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 3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128113" y="4480880"/>
            <a:ext cx="388154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Lanzamiento comercial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128113" y="4737422"/>
            <a:ext cx="3881542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Venta abierta, entrevista conversacional y edición impresa bajo demanda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12800" y="5262798"/>
            <a:ext cx="10261600" cy="579199"/>
          </a:xfrm>
          <a:prstGeom prst="roundRect">
            <a:avLst>
              <a:gd name="adj" fmla="val 10963"/>
            </a:avLst>
          </a:prstGeom>
          <a:solidFill>
            <a:srgbClr val="F3F2EF"/>
          </a:solidFill>
          <a:ln/>
        </p:spPr>
      </p:sp>
      <p:sp>
        <p:nvSpPr>
          <p:cNvPr id="35" name="Shape 32"/>
          <p:cNvSpPr/>
          <p:nvPr/>
        </p:nvSpPr>
        <p:spPr>
          <a:xfrm>
            <a:off x="812800" y="5262798"/>
            <a:ext cx="10261600" cy="579199"/>
          </a:xfrm>
          <a:custGeom>
            <a:avLst/>
            <a:gdLst/>
            <a:ahLst/>
            <a:cxnLst/>
            <a:rect l="l" t="t" r="r" b="b"/>
            <a:pathLst>
              <a:path w="10261600" h="579199">
                <a:moveTo>
                  <a:pt x="63500" y="579199"/>
                </a:moveTo>
                <a:lnTo>
                  <a:pt x="63500" y="579199"/>
                </a:lnTo>
                <a:arcTo hR="63500" wR="63500" stAng="5400000" swAng="5400000"/>
                <a:lnTo>
                  <a:pt x="0" y="63500"/>
                </a:lnTo>
                <a:arcTo hR="63500" wR="63500" stAng="10800000" swAng="5400000"/>
                <a:lnTo>
                  <a:pt x="63500" y="0"/>
                </a:lnTo>
                <a:arcTo hR="63500" wR="25400" stAng="16200000" swAng="-5400000"/>
                <a:lnTo>
                  <a:pt x="38100" y="515699"/>
                </a:lnTo>
                <a:arcTo hR="63500" wR="25400" stAng="10800000" swAng="-5400000"/>
                <a:close/>
              </a:path>
            </a:pathLst>
          </a:custGeom>
          <a:solidFill>
            <a:srgbClr val="6B7682"/>
          </a:solidFill>
          <a:ln/>
        </p:spPr>
      </p:sp>
      <p:sp>
        <p:nvSpPr>
          <p:cNvPr id="36" name="Text 33"/>
          <p:cNvSpPr/>
          <p:nvPr/>
        </p:nvSpPr>
        <p:spPr>
          <a:xfrm>
            <a:off x="1000760" y="5351698"/>
            <a:ext cx="1650921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B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NOTA SOBRE COSTES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2753281" y="5356783"/>
            <a:ext cx="8413781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Coste de tokens nominal medido con el proveedor </a:t>
            </a:r>
            <a:r>
              <a:rPr lang="en-US" sz="1200" b="1" dirty="0">
                <a:solidFill>
                  <a:srgbClr val="3C46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claude_code</a:t>
            </a:r>
            <a:r>
              <a:rPr lang="en-US" sz="1200" dirty="0">
                <a:solidFill>
                  <a:srgbClr val="3C46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calculado con los precios de la API que se usará en producción.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79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0000" y="571500"/>
            <a:ext cx="5715000" cy="5715000"/>
          </a:xfrm>
          <a:prstGeom prst="rect">
            <a:avLst/>
          </a:prstGeom>
        </p:spPr>
      </p:pic>
      <p:pic>
        <p:nvPicPr>
          <p:cNvPr id="3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12000" y="1333500"/>
            <a:ext cx="4191000" cy="4191000"/>
          </a:xfrm>
          <a:prstGeom prst="rect">
            <a:avLst/>
          </a:prstGeom>
        </p:spPr>
      </p:pic>
      <p:pic>
        <p:nvPicPr>
          <p:cNvPr id="4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874000" y="2095500"/>
            <a:ext cx="2667000" cy="2667000"/>
          </a:xfrm>
          <a:prstGeom prst="rect">
            <a:avLst/>
          </a:prstGeom>
        </p:spPr>
      </p:pic>
      <p:pic>
        <p:nvPicPr>
          <p:cNvPr id="5" name="Image 3" descr="ellips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43000" y="1905000"/>
            <a:ext cx="254000" cy="254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511300" y="1663700"/>
            <a:ext cx="457835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20"/>
              </a:lnSpc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Qaracter</a:t>
            </a:r>
            <a:endParaRPr lang="en-US" sz="5200" dirty="0"/>
          </a:p>
        </p:txBody>
      </p:sp>
      <p:sp>
        <p:nvSpPr>
          <p:cNvPr id="7" name="Text 1"/>
          <p:cNvSpPr/>
          <p:nvPr/>
        </p:nvSpPr>
        <p:spPr>
          <a:xfrm>
            <a:off x="1155700" y="2565400"/>
            <a:ext cx="52324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Beyond your challenge</a:t>
            </a:r>
            <a:endParaRPr lang="en-US" sz="2400" dirty="0"/>
          </a:p>
        </p:txBody>
      </p:sp>
      <p:sp>
        <p:nvSpPr>
          <p:cNvPr id="8" name="Shape 2"/>
          <p:cNvSpPr/>
          <p:nvPr/>
        </p:nvSpPr>
        <p:spPr>
          <a:xfrm>
            <a:off x="1155700" y="3429000"/>
            <a:ext cx="482600" cy="38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3"/>
          <p:cNvSpPr/>
          <p:nvPr/>
        </p:nvSpPr>
        <p:spPr>
          <a:xfrm>
            <a:off x="1155700" y="3810000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FFFF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CONTACTO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1143000" y="4160366"/>
            <a:ext cx="52324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bruno.cruz@qaracter.com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404 Avenida Paseo de la Reforma, Ciudad de México, CDMX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7493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238242"/>
            <a:ext cx="30880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Qaracter group, all rights reserved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0833815" y="6238242"/>
            <a:ext cx="5961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Anexos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793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ANEXOS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1127758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-5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Material técnico de soporte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812800" y="1989460"/>
            <a:ext cx="5283200" cy="0"/>
          </a:xfrm>
          <a:prstGeom prst="line">
            <a:avLst/>
          </a:prstGeom>
          <a:noFill/>
          <a:ln w="6350">
            <a:solidFill>
              <a:srgbClr val="3C4E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2800" y="2118358"/>
            <a:ext cx="3556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793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70000" y="2179327"/>
            <a:ext cx="497078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u="sng" dirty="0">
                <a:solidFill>
                  <a:srgbClr val="FFB48A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Diagramas de arquitectura detallados</a:t>
            </a:r>
            <a:r>
              <a:rPr lang="en-US" sz="1400" dirty="0">
                <a:solidFill>
                  <a:srgbClr val="E6EA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· documento ↗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96000" y="1989460"/>
            <a:ext cx="5283200" cy="0"/>
          </a:xfrm>
          <a:prstGeom prst="line">
            <a:avLst/>
          </a:prstGeom>
          <a:noFill/>
          <a:ln w="6350">
            <a:solidFill>
              <a:srgbClr val="3C4E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96000" y="2118358"/>
            <a:ext cx="3556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793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53200" y="2179327"/>
            <a:ext cx="497078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u="sng" dirty="0">
                <a:solidFill>
                  <a:srgbClr val="FFB48A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Análisis económico y de sensibilidad extendido</a:t>
            </a:r>
            <a:r>
              <a:rPr lang="en-US" sz="1400" dirty="0">
                <a:solidFill>
                  <a:srgbClr val="E6EA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· documento ↗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12800" y="2662560"/>
            <a:ext cx="5283200" cy="0"/>
          </a:xfrm>
          <a:prstGeom prst="line">
            <a:avLst/>
          </a:prstGeom>
          <a:noFill/>
          <a:ln w="6350">
            <a:solidFill>
              <a:srgbClr val="3C4E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2800" y="2791458"/>
            <a:ext cx="3556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793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70000" y="2852427"/>
            <a:ext cx="497078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6EA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Especificación TLA+ comentada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096000" y="2662560"/>
            <a:ext cx="5283200" cy="0"/>
          </a:xfrm>
          <a:prstGeom prst="line">
            <a:avLst/>
          </a:prstGeom>
          <a:noFill/>
          <a:ln w="6350">
            <a:solidFill>
              <a:srgbClr val="3C4E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96000" y="2791458"/>
            <a:ext cx="3556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793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553200" y="2852427"/>
            <a:ext cx="497078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6EA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Red-team log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12800" y="3114675"/>
            <a:ext cx="5283200" cy="0"/>
          </a:xfrm>
          <a:prstGeom prst="line">
            <a:avLst/>
          </a:prstGeom>
          <a:noFill/>
          <a:ln w="6350">
            <a:solidFill>
              <a:srgbClr val="3C4E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2800" y="3243585"/>
            <a:ext cx="3556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793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70000" y="3304542"/>
            <a:ext cx="497078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6EA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Tabla completa de resultados de las evals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70000" y="3569977"/>
            <a:ext cx="497078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Tabla completa de las 15 ejecuciones en docs/evaluacion-preliminar.md del repositorio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096000" y="3114675"/>
            <a:ext cx="5283200" cy="0"/>
          </a:xfrm>
          <a:prstGeom prst="line">
            <a:avLst/>
          </a:prstGeom>
          <a:noFill/>
          <a:ln w="6350">
            <a:solidFill>
              <a:srgbClr val="3C4E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96000" y="3243585"/>
            <a:ext cx="3556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793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553200" y="3304542"/>
            <a:ext cx="497078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6EA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Modelos de LLM: Opus para Writer y Editor, Sonnet para el Judge, contra el sesgo de autopreferencia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12800" y="3969383"/>
            <a:ext cx="5283200" cy="0"/>
          </a:xfrm>
          <a:prstGeom prst="line">
            <a:avLst/>
          </a:prstGeom>
          <a:noFill/>
          <a:ln w="6350">
            <a:solidFill>
              <a:srgbClr val="3C4E5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2800" y="4098292"/>
            <a:ext cx="3556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793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270000" y="4159250"/>
            <a:ext cx="497078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6EA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Esquema de la base de datos SQLite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096000" y="3969383"/>
            <a:ext cx="5283200" cy="0"/>
          </a:xfrm>
          <a:prstGeom prst="line">
            <a:avLst/>
          </a:prstGeom>
          <a:noFill/>
          <a:ln w="6350">
            <a:solidFill>
              <a:srgbClr val="3C4E5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96000" y="4098292"/>
            <a:ext cx="3556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793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553200" y="4159250"/>
            <a:ext cx="497078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u="sng" dirty="0">
                <a:solidFill>
                  <a:srgbClr val="FFB48A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Trazas de Langfuse</a:t>
            </a:r>
            <a:r>
              <a:rPr lang="en-US" sz="1400" dirty="0">
                <a:solidFill>
                  <a:srgbClr val="E6EA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· documento ↗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· Novelas personalizadas con un harness agéntico</dc:title>
  <dc:subject>PptxGenJS Presentation</dc:subject>
  <dc:creator>PptxGenJS</dc:creator>
  <cp:lastModifiedBy>PptxGenJS</cp:lastModifiedBy>
  <cp:revision>1</cp:revision>
  <dcterms:created xsi:type="dcterms:W3CDTF">2026-09-25T14:28:54Z</dcterms:created>
  <dcterms:modified xsi:type="dcterms:W3CDTF">2026-09-25T14:28:54Z</dcterms:modified>
</cp:coreProperties>
</file>